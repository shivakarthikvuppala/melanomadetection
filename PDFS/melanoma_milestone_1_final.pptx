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0" r:id="rId4"/>
    <p:sldId id="259" r:id="rId5"/>
    <p:sldId id="263" r:id="rId6"/>
    <p:sldId id="267" r:id="rId7"/>
    <p:sldId id="281" r:id="rId8"/>
    <p:sldId id="271" r:id="rId9"/>
    <p:sldId id="264" r:id="rId10"/>
    <p:sldId id="282" r:id="rId11"/>
    <p:sldId id="266" r:id="rId12"/>
    <p:sldId id="272" r:id="rId13"/>
    <p:sldId id="279" r:id="rId14"/>
    <p:sldId id="274" r:id="rId15"/>
    <p:sldId id="270" r:id="rId16"/>
    <p:sldId id="273" r:id="rId17"/>
    <p:sldId id="275" r:id="rId18"/>
    <p:sldId id="276" r:id="rId19"/>
    <p:sldId id="277" r:id="rId20"/>
    <p:sldId id="278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248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panel. Introduce team G1362, your mentor Dr. K. Bhargavi, and state the project title clearly. Frame it in one line: an explainable AI system that not only detects melanoma but explains its reasoning like a dermatologist would.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black-box accuracy is not enough for clinical adoption — trust requires clinically-grounded explanations, not just a confidence number. This motivates every downstream design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9594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researcher-analysis payoff of the survey — not a repeat of the table. Emphasize the segmentation-metric gap (no reviewed paper reports Dice/IoU) as part of the motivation for rigorous evaluation in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abstract and end users together — six distinct user categories show this isn't a single-purpose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form: A=Asymmetry, B=Border, C=Color, D=Diameter. Be ready to explain the panel note on differential-structure/Evolving exclusion confidently — it's a scoping decision, not an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ISIC 2018 for segmentation (has masks), ISIC 2020 for classification (larger, high-quality images) — don't mix up their purposes.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FR1-FR9 in pipeline order. Be ready for the panel to ask why ABCD Feature Extraction (FR4) is named ABCD and not ABC — reference the ABCD slide's panel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panel-defense reference for methodology — know the WHAT/WHY for every row cold.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image-quality guidelines (lighting, reference object) directly affect downstream segmentation and Diameter measurement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726B7-AAD2-8763-8EC6-ED58353B9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D9992-D16B-15B3-97D6-EF89FBD17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6DDAE-4888-524D-DCC2-A4E316686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abstract and end users together — six distinct user categories show this isn't a single-purpose tool.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4AB76-1693-2EF9-7E4E-0C262F063A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803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Frontend/backend are live (Vercel/Railway); database/storage are explicitly future additions — keep this distinction clear if asked what's actually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for panel defense. Be explicit: the individual technologies (ViT, MedSAM, RAG, LLM) are NOT novel — the specific integration for evidence-grounded melanoma reporting is the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are planned, not achieved — do not imply any of these numbers exist yet for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problem → gap → solution → contribution in under a minute; this is your closing pitch before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directions beyond Milestone I — don't imply any are in progress unless asked and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show the breadth of skills developed — useful if the panel asks about individual contributions.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panel, invite questions on architecture, dataset choices, or the explainability approach — including the ABCD scoping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3996E9-3C8D-D930-506C-35A26B7BE7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KMIT — KESHAV MEMORIAL INSTITUTE OF TECHNOLOGY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 ·  Milestone – I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749807" y="1417320"/>
            <a:ext cx="9877759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AI-Based Melanoma Detection</a:t>
            </a:r>
            <a:endParaRPr lang="en-US" sz="3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24643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Vision Transformers, MedSAM, RAG and LLM-Based Clinical Report Generation</a:t>
            </a:r>
            <a:endParaRPr lang="en-US" sz="17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31455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926080" y="31363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G1362</a:t>
            </a:r>
            <a:endParaRPr lang="en-US" sz="135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2000" y="36027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1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26080" y="35852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Monish  · N. Sai Ramanuja  · I.  Shubham  · V. Shiva  · K. Subhash</a:t>
            </a:r>
            <a:endParaRPr lang="en-US" sz="1350" dirty="0">
              <a:solidFill>
                <a:srgbClr val="00206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2000" y="40599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1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956560" y="40599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K. Bhargavi</a:t>
            </a:r>
            <a:endParaRPr lang="en-US" sz="1350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2000" y="45171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BATCH</a:t>
            </a:r>
            <a:endParaRPr lang="en-US" sz="11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292608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CSE, KMIT  ·  Batch KR24  ·  AY 2026–2027</a:t>
            </a:r>
            <a:endParaRPr lang="en-US" sz="1350" dirty="0">
              <a:solidFill>
                <a:srgbClr val="00206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Melanoma Detection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440" y="65836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2440" y="868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Melanoma Detection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6675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Melanoma is the most dangerous form of skin cancer — timely diagnosis significantly improves survival, but traditional visual diagnosis is subjective and inconsistent.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6675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classifiers now reach expert-level accuracy, but their black-box nature undermines clinician trust and limits real clinical adoption.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accurate predictions give no clinically meaningful reasoning — clinicians see a label, not the evidence behind it.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explainable approaches (saliency maps, eye-tracking studies) show where a model looked, but rarely why a finding is clinically significant.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established pipeline that pairs accurate classification/segmentation with evidence-grounded, dermatologist-style written explanations.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137160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EXPLAINABILITY MATTERS HERE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2057400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must justify a biopsy/referral decision — a bare label isn't defensible evidence.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grounded in real medical literature (not just model confidence) build trust.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is the specific gap this project targets, building on the CEFM base paper's explainability-first design.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0" y="53949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0" y="5394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821685-888A-7001-B9C7-0B967616811B}"/>
              </a:ext>
            </a:extLst>
          </p:cNvPr>
          <p:cNvSpPr txBox="1"/>
          <p:nvPr/>
        </p:nvSpPr>
        <p:spPr>
          <a:xfrm>
            <a:off x="802602" y="445539"/>
            <a:ext cx="65105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 — CEFM</a:t>
            </a:r>
            <a:endParaRPr lang="en-US"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872664-BA16-548E-CAE1-836906BA308A}"/>
              </a:ext>
            </a:extLst>
          </p:cNvPr>
          <p:cNvSpPr txBox="1"/>
          <p:nvPr/>
        </p:nvSpPr>
        <p:spPr>
          <a:xfrm>
            <a:off x="273589" y="965876"/>
            <a:ext cx="11756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Explainable Melanoma Diagnosis with Contrastive Learning and LLM-based Report Generation</a:t>
            </a:r>
            <a:br>
              <a:rPr lang="en-IN" dirty="0"/>
            </a:br>
            <a:r>
              <a:rPr lang="en-IN" i="1" dirty="0"/>
              <a:t>Zheng et al. |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2025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B9291B-93A6-D2CF-9421-10EF5DADC6B8}"/>
              </a:ext>
            </a:extLst>
          </p:cNvPr>
          <p:cNvSpPr txBox="1"/>
          <p:nvPr/>
        </p:nvSpPr>
        <p:spPr>
          <a:xfrm>
            <a:off x="273589" y="1697813"/>
            <a:ext cx="6161141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Proposes CEFM (Cross-modal Explainable Framework for Melanoma) to address the lack of interpretability in high- performing Al models, which often act as black boxes and are difficult for clinicians to interpret and trust. </a:t>
            </a:r>
          </a:p>
          <a:p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CEFM connects visual image features with clinically meaningful ABC features to make melanoma predictions more interpretable.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Workflow: </a:t>
            </a:r>
            <a:r>
              <a:rPr lang="en-US" sz="1700" dirty="0"/>
              <a:t>Image -&gt; </a:t>
            </a:r>
            <a:r>
              <a:rPr lang="en-US" sz="1700" dirty="0" err="1"/>
              <a:t>ViT</a:t>
            </a:r>
            <a:r>
              <a:rPr lang="en-US" sz="1700" dirty="0"/>
              <a:t> &gt; Image Features Lesion &gt; Segmentation &gt; ABC -&gt; Contrastive Learning Classification + Report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Results: </a:t>
            </a:r>
            <a:r>
              <a:rPr lang="en-US" sz="1700" dirty="0"/>
              <a:t>92.79% Accuracy | 0.961 AUC | 4.6/5 Expert Interpretability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Limitation: </a:t>
            </a:r>
            <a:r>
              <a:rPr lang="en-US" sz="1700" dirty="0"/>
              <a:t>CEFM focuses on ABC and excludes Differential Structures (D) because fine-grained expert annotations are difficult to obtain.</a:t>
            </a:r>
            <a:endParaRPr lang="en-IN" sz="17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993151D-F7C0-CADC-DE1F-806A91215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867" y="1587196"/>
            <a:ext cx="5479120" cy="5228816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5B3EF85C-07B7-BA5F-C552-1008B772FABE}"/>
              </a:ext>
            </a:extLst>
          </p:cNvPr>
          <p:cNvSpPr/>
          <p:nvPr/>
        </p:nvSpPr>
        <p:spPr>
          <a:xfrm>
            <a:off x="944880" y="24373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BASE PAPER/ RESEARCH REFERENCE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09917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2440" y="65223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Literature Survey – Key findings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Melanoma Detection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680" y="137388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drawn from the 22 papers reviewed (2022–2026)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trend:  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514600" y="178308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dirty="0"/>
              <a:t>HAM10000 and ISIC variants dominate the benchmark datasets across the literature.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11480" y="252018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criteria 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514600" y="249174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700" dirty="0"/>
              <a:t>ABCD is most common (5 papers), ABCDE appears in 2, and ABC in 1; most remaining studies do not explicitly use clinical criteria.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768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  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14600" y="340614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700" dirty="0"/>
              <a:t>Only 2 of 22 papers explicitly foreground explainability; most focus primarily on accuracy/AUC.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41742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 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514600" y="4174235"/>
            <a:ext cx="5669280" cy="592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700" dirty="0"/>
              <a:t>Segmentation quality is rarely evaluated; none of the reviewed papers report Dice/</a:t>
            </a:r>
            <a:r>
              <a:rPr lang="en-IN" sz="1700" dirty="0" err="1"/>
              <a:t>IoU</a:t>
            </a:r>
            <a:r>
              <a:rPr lang="en-IN" sz="1700" dirty="0"/>
              <a:t>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65347" y="622638"/>
            <a:ext cx="3444239" cy="5319522"/>
          </a:xfrm>
          <a:prstGeom prst="roundRect">
            <a:avLst>
              <a:gd name="adj" fmla="val 219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76619" y="782658"/>
            <a:ext cx="301960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4541BB-0D99-5E2C-76F5-AC505256B920}"/>
              </a:ext>
            </a:extLst>
          </p:cNvPr>
          <p:cNvSpPr txBox="1"/>
          <p:nvPr/>
        </p:nvSpPr>
        <p:spPr>
          <a:xfrm>
            <a:off x="8276618" y="1127854"/>
            <a:ext cx="3019608" cy="362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50" b="1" dirty="0">
                <a:solidFill>
                  <a:schemeClr val="bg1"/>
                </a:solidFill>
              </a:rPr>
              <a:t>High classification performance</a:t>
            </a:r>
            <a:br>
              <a:rPr lang="en-IN" sz="1350" dirty="0">
                <a:solidFill>
                  <a:schemeClr val="bg1"/>
                </a:solidFill>
              </a:rPr>
            </a:br>
            <a:r>
              <a:rPr lang="en-IN" sz="1350" dirty="0">
                <a:solidFill>
                  <a:schemeClr val="bg1"/>
                </a:solidFill>
              </a:rPr>
              <a:t>Limited clinically grounded explainability</a:t>
            </a:r>
          </a:p>
          <a:p>
            <a:endParaRPr lang="en-US" sz="135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50" b="1" dirty="0">
                <a:solidFill>
                  <a:schemeClr val="bg1"/>
                </a:solidFill>
              </a:rPr>
              <a:t>Incomplete</a:t>
            </a:r>
            <a:r>
              <a:rPr lang="en-IN" sz="1350" b="1" dirty="0"/>
              <a:t> </a:t>
            </a:r>
            <a:r>
              <a:rPr lang="en-IN" sz="1350" b="1" dirty="0">
                <a:solidFill>
                  <a:schemeClr val="bg1"/>
                </a:solidFill>
              </a:rPr>
              <a:t>clinical assessment</a:t>
            </a:r>
            <a:br>
              <a:rPr lang="en-IN" sz="1350" dirty="0">
                <a:solidFill>
                  <a:schemeClr val="bg1"/>
                </a:solidFill>
              </a:rPr>
            </a:br>
            <a:r>
              <a:rPr lang="en-IN" sz="1350" dirty="0">
                <a:solidFill>
                  <a:schemeClr val="bg1"/>
                </a:solidFill>
              </a:rPr>
              <a:t>ABCDE-based assessment remains uncommon</a:t>
            </a:r>
          </a:p>
          <a:p>
            <a:endParaRPr lang="en-US" sz="135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bg1"/>
                </a:solidFill>
              </a:rPr>
              <a:t>Limited segmentation evaluation </a:t>
            </a:r>
            <a:r>
              <a:rPr lang="en-US" sz="1350" dirty="0">
                <a:solidFill>
                  <a:schemeClr val="bg1"/>
                </a:solidFill>
              </a:rPr>
              <a:t>Few studies assess lesion-segmentation quality  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50" b="1" dirty="0">
                <a:solidFill>
                  <a:schemeClr val="bg1"/>
                </a:solidFill>
              </a:rPr>
              <a:t>Limited evidence grounding</a:t>
            </a:r>
            <a:br>
              <a:rPr lang="en-IN" sz="1350" dirty="0">
                <a:solidFill>
                  <a:schemeClr val="bg1"/>
                </a:solidFill>
              </a:rPr>
            </a:br>
            <a:r>
              <a:rPr lang="en-IN" sz="1350" dirty="0">
                <a:solidFill>
                  <a:schemeClr val="bg1"/>
                </a:solidFill>
              </a:rPr>
              <a:t>Few end-to-end systems connect prediction with traceable clinical reasoning</a:t>
            </a:r>
            <a:endParaRPr lang="en-US" sz="1350" dirty="0">
              <a:solidFill>
                <a:schemeClr val="bg1"/>
              </a:solidFill>
            </a:endParaRPr>
          </a:p>
          <a:p>
            <a:endParaRPr lang="en-US" sz="1350" b="1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677F0E-1DBD-6606-FFCB-B16855EE951E}"/>
              </a:ext>
            </a:extLst>
          </p:cNvPr>
          <p:cNvSpPr txBox="1"/>
          <p:nvPr/>
        </p:nvSpPr>
        <p:spPr>
          <a:xfrm>
            <a:off x="8344747" y="4673599"/>
            <a:ext cx="295147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RESEARCH GAP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End-to-end, explainable and evidence-grounded ABCDE melanoma assessment</a:t>
            </a:r>
            <a:endParaRPr lang="en-IN" sz="1500" dirty="0">
              <a:solidFill>
                <a:schemeClr val="bg1"/>
              </a:solidFill>
            </a:endParaRPr>
          </a:p>
          <a:p>
            <a:endParaRPr lang="en-IN" sz="15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8A10EA-60A4-C2CA-A512-23C269D94DAB}"/>
              </a:ext>
            </a:extLst>
          </p:cNvPr>
          <p:cNvSpPr txBox="1"/>
          <p:nvPr/>
        </p:nvSpPr>
        <p:spPr>
          <a:xfrm>
            <a:off x="930729" y="341070"/>
            <a:ext cx="6097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BASE PAPER/ RESEARCH REFERENCE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16335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100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BASE PAPER/ RESEARCH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332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Melanoma Detection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24543" y="1884783"/>
            <a:ext cx="11279777" cy="4068147"/>
          </a:xfrm>
          <a:prstGeom prst="roundRect">
            <a:avLst>
              <a:gd name="adj" fmla="val 347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7680" y="2051287"/>
            <a:ext cx="6799217" cy="558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680" y="2491272"/>
            <a:ext cx="11147593" cy="35503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: Explainable AI-Based Melanoma Detection</a:t>
            </a:r>
          </a:p>
          <a:p>
            <a:endParaRPr lang="en-US" sz="14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statement</a:t>
            </a:r>
          </a:p>
          <a:p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 an explainable AI-based melanoma detection framework that extends the base CEFM approach from ABC-based assessment toward a complete ABCDE assessment, with precise lesion segmentation and evidence-grounded clinical reporting.</a:t>
            </a:r>
          </a:p>
          <a:p>
            <a:endParaRPr lang="en-US" sz="14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</a:p>
          <a:p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melanoma detection with clinically interpretable ABCDE-based explanations.</a:t>
            </a:r>
          </a:p>
          <a:p>
            <a:endParaRPr lang="en-US" sz="14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Improvements</a:t>
            </a:r>
          </a:p>
          <a:p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ABCDE assessment instead of ABC</a:t>
            </a:r>
          </a:p>
          <a:p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MedSAM for precise lesion segmentation</a:t>
            </a:r>
          </a:p>
          <a:p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 for evidence-supported clinical reports</a:t>
            </a:r>
          </a:p>
          <a:p>
            <a:endParaRPr lang="en-US" sz="14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</a:p>
          <a:p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 ABCDE assessment + supporting evidence + interpretable medical report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09560" y="2011680"/>
            <a:ext cx="3566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5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93192" y="78181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ABCDE Clinical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Melanoma Detection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685800" cy="8686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1399032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139903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half of the lesion doesn't match the other.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635240" y="1399032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Shape-symmetry analysis on the MedSAM mask.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685800" cy="8686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80160" y="2359152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35915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Irregular, notched or blurred edges vs. a smooth border.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635240" y="2359152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Contour-irregularity computation on the mask boundary.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685800" cy="8686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80160" y="3319272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331927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pigmentation / multiple colors within the lesion.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635240" y="3319272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Color-channel variance analysis across the segmented region.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685800" cy="8686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280160" y="4279392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427939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size — larger diameter raises clinical suspicion.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7635240" y="4279392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from the mask using pixel-to-mm calibration (a scale/reference object is recommended at upload).</a:t>
            </a:r>
            <a:endParaRPr lang="en-US" sz="1020" dirty="0"/>
          </a:p>
        </p:txBody>
      </p:sp>
      <p:sp>
        <p:nvSpPr>
          <p:cNvPr id="30" name="Shape 19">
            <a:extLst>
              <a:ext uri="{FF2B5EF4-FFF2-40B4-BE49-F238E27FC236}">
                <a16:creationId xmlns:a16="http://schemas.microsoft.com/office/drawing/2014/main" id="{51EA912D-D42D-75B5-6DFF-2A777110D4AA}"/>
              </a:ext>
            </a:extLst>
          </p:cNvPr>
          <p:cNvSpPr/>
          <p:nvPr/>
        </p:nvSpPr>
        <p:spPr>
          <a:xfrm>
            <a:off x="457200" y="5246790"/>
            <a:ext cx="685800" cy="8686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pPr algn="ctr"/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</a:rPr>
              <a:t>E</a:t>
            </a:r>
            <a:endParaRPr lang="en-US" sz="2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E11324-C0FA-A7A9-0A3C-8A09EE446F6A}"/>
              </a:ext>
            </a:extLst>
          </p:cNvPr>
          <p:cNvSpPr txBox="1"/>
          <p:nvPr/>
        </p:nvSpPr>
        <p:spPr>
          <a:xfrm>
            <a:off x="1280160" y="5422502"/>
            <a:ext cx="10151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30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724BA0C4-85AF-4709-B360-D5CCBABB194E}"/>
              </a:ext>
            </a:extLst>
          </p:cNvPr>
          <p:cNvSpPr/>
          <p:nvPr/>
        </p:nvSpPr>
        <p:spPr>
          <a:xfrm>
            <a:off x="3291840" y="5175504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size gradually increases over time</a:t>
            </a:r>
            <a:endParaRPr lang="en-US" sz="108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CDA9AB-0603-E0C0-F83F-997493E1D3C7}"/>
              </a:ext>
            </a:extLst>
          </p:cNvPr>
          <p:cNvSpPr txBox="1"/>
          <p:nvPr/>
        </p:nvSpPr>
        <p:spPr>
          <a:xfrm>
            <a:off x="7635240" y="5468127"/>
            <a:ext cx="4410580" cy="24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2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 size overtime- repeated inspection in uniform intervals 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ED46E2-A29A-4B6B-8054-C810B7D3289A}"/>
              </a:ext>
            </a:extLst>
          </p:cNvPr>
          <p:cNvSpPr txBox="1"/>
          <p:nvPr/>
        </p:nvSpPr>
        <p:spPr>
          <a:xfrm>
            <a:off x="763606" y="473820"/>
            <a:ext cx="8830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2060"/>
                </a:solidFill>
              </a:rPr>
              <a:t>Proposed Solution — System Architecture</a:t>
            </a:r>
            <a:endParaRPr lang="en-US" sz="3200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F4A04A-1E20-4A35-2B5B-5DD066049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08" y="1185383"/>
            <a:ext cx="8053752" cy="52234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2D745C2-FB6A-1D00-CE03-B8D9B6EB4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728" y="667251"/>
            <a:ext cx="2878666" cy="53572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3C758A-F9EE-1C19-49A5-56733235013A}"/>
              </a:ext>
            </a:extLst>
          </p:cNvPr>
          <p:cNvSpPr txBox="1"/>
          <p:nvPr/>
        </p:nvSpPr>
        <p:spPr>
          <a:xfrm>
            <a:off x="968051" y="237350"/>
            <a:ext cx="6097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kern="0" spc="100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PROPOSED SOLUTION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39019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4">
            <a:extLst>
              <a:ext uri="{FF2B5EF4-FFF2-40B4-BE49-F238E27FC236}">
                <a16:creationId xmlns:a16="http://schemas.microsoft.com/office/drawing/2014/main" id="{43B8E120-0EC0-18FF-371E-4E6A910C5A96}"/>
              </a:ext>
            </a:extLst>
          </p:cNvPr>
          <p:cNvSpPr/>
          <p:nvPr/>
        </p:nvSpPr>
        <p:spPr>
          <a:xfrm>
            <a:off x="457200" y="3387479"/>
            <a:ext cx="11365992" cy="2807581"/>
          </a:xfrm>
          <a:prstGeom prst="roundRect">
            <a:avLst>
              <a:gd name="adj" fmla="val 1739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393192" y="6629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DATASET DETAILS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93192" y="8001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To Be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9086" y="6583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Melanoma Detection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1"/>
            <a:ext cx="5212080" cy="1874240"/>
          </a:xfrm>
          <a:prstGeom prst="roundRect">
            <a:avLst>
              <a:gd name="adj" fmla="val 1739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69967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ISIC 2018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725977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Lesion Segmentation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7680" y="2068830"/>
            <a:ext cx="4937760" cy="11541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Expert-annotated ground-truth masks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Coarse-to-fine segmentation training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for UltraLight VM-UNet-style models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1"/>
            <a:ext cx="5440680" cy="1860058"/>
          </a:xfrm>
          <a:prstGeom prst="roundRect">
            <a:avLst>
              <a:gd name="adj" fmla="val 1739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3640" y="137719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ISIC 2020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63640" y="1740159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Melanoma Classification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63640" y="2046018"/>
            <a:ext cx="5361712" cy="10638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dermoscopic image collection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benign vs. malignant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validation (n≈573) / test (n≈714) splits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611575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ISIC 2018 supplies expert-annotated masks for training the segmentation stage; ISIC 2020 provides the large-scale, high-quality images used for melanoma classification.</a:t>
            </a:r>
            <a:endParaRPr lang="en-US" sz="11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3ECAEBD-6725-857E-F5AD-841D4896A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8" y="3796580"/>
            <a:ext cx="9620483" cy="1553081"/>
          </a:xfrm>
          <a:prstGeom prst="rect">
            <a:avLst/>
          </a:prstGeom>
        </p:spPr>
      </p:pic>
      <p:sp>
        <p:nvSpPr>
          <p:cNvPr id="24" name="Text 5">
            <a:extLst>
              <a:ext uri="{FF2B5EF4-FFF2-40B4-BE49-F238E27FC236}">
                <a16:creationId xmlns:a16="http://schemas.microsoft.com/office/drawing/2014/main" id="{3F840EAD-1AD8-3743-378D-342C92F0C33A}"/>
              </a:ext>
            </a:extLst>
          </p:cNvPr>
          <p:cNvSpPr/>
          <p:nvPr/>
        </p:nvSpPr>
        <p:spPr>
          <a:xfrm>
            <a:off x="487680" y="3407617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to be used:</a:t>
            </a:r>
            <a:endParaRPr lang="en-US" sz="22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04689755-7F14-6735-2A41-E58AF1825075}"/>
              </a:ext>
            </a:extLst>
          </p:cNvPr>
          <p:cNvSpPr/>
          <p:nvPr/>
        </p:nvSpPr>
        <p:spPr>
          <a:xfrm>
            <a:off x="587828" y="5442081"/>
            <a:ext cx="9906559" cy="3614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B050"/>
                </a:solidFill>
              </a:rPr>
              <a:t>Curated dataset designed to extend melanoma analysis with Diameter (D) and Evolution (E) features.</a:t>
            </a:r>
            <a:endParaRPr lang="en-US" sz="125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4"/>
          <p:cNvSpPr/>
          <p:nvPr/>
        </p:nvSpPr>
        <p:spPr>
          <a:xfrm>
            <a:off x="594360" y="4791456"/>
            <a:ext cx="356616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1901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Melanoma Detection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7033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4904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1901952"/>
            <a:ext cx="34290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 dermoscopic lesion image (JPEG/PNG/JPG) as system input.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7033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34840" y="150876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34840" y="150876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4904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Segmentation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34840" y="1901952"/>
            <a:ext cx="34290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MedSAM generates a precise lesion boundary mask from the uploaded image.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7033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75320" y="150876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75320" y="150876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0" y="14904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Melanoma Classification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75320" y="1901952"/>
            <a:ext cx="34290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 V2 predicts benign/malignant with a confidence score.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081528"/>
            <a:ext cx="37033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3218688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21868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3200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Feature Extraction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4360" y="3611880"/>
            <a:ext cx="34290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scikit-image compute Asymmetry, Border, Color and Diameter from the mask.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97680" y="3081528"/>
            <a:ext cx="37033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34840" y="3218688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34840" y="321868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200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Knowledge Retrieval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434840" y="3611880"/>
            <a:ext cx="34290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 relevant medical literature/guidelines via BGE embeddings + Qdrant.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38160" y="3081528"/>
            <a:ext cx="37033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75320" y="3218688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75320" y="321868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0" y="3200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75320" y="3611880"/>
            <a:ext cx="34290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Agent combines model outputs with retrieved evidence into a clear rationale.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4360" y="4928616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4360" y="492861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88720" y="49103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Report Generation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94360" y="5321808"/>
            <a:ext cx="34290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Agent compiles diagnosis, ABCD features, evidence and risk assessment.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297680" y="4791456"/>
            <a:ext cx="37033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434840" y="4928616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434840" y="492861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0" y="49103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434840" y="5321808"/>
            <a:ext cx="34290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results (classification, mask, features, explanation) for the clinician.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138160" y="4791456"/>
            <a:ext cx="37033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275320" y="4928616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275320" y="492861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FR9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869680" y="49103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Download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8275320" y="5321808"/>
            <a:ext cx="34290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the generated clinical report as a downloadable PDF.</a:t>
            </a:r>
            <a:endParaRPr lang="en-US" sz="1050" dirty="0"/>
          </a:p>
        </p:txBody>
      </p:sp>
      <p:sp>
        <p:nvSpPr>
          <p:cNvPr id="52" name="Text 0">
            <a:extLst>
              <a:ext uri="{FF2B5EF4-FFF2-40B4-BE49-F238E27FC236}">
                <a16:creationId xmlns:a16="http://schemas.microsoft.com/office/drawing/2014/main" id="{61D2BAE4-DD4F-2C2D-6FC5-F4B99C163620}"/>
              </a:ext>
            </a:extLst>
          </p:cNvPr>
          <p:cNvSpPr/>
          <p:nvPr/>
        </p:nvSpPr>
        <p:spPr>
          <a:xfrm>
            <a:off x="594360" y="560677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100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PROJECT INPUTS &amp; WORKFLOW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0">
            <a:extLst>
              <a:ext uri="{FF2B5EF4-FFF2-40B4-BE49-F238E27FC236}">
                <a16:creationId xmlns:a16="http://schemas.microsoft.com/office/drawing/2014/main" id="{A6B08EA2-195D-40A0-3892-0A4FF9DD091F}"/>
              </a:ext>
            </a:extLst>
          </p:cNvPr>
          <p:cNvSpPr/>
          <p:nvPr/>
        </p:nvSpPr>
        <p:spPr>
          <a:xfrm>
            <a:off x="3564294" y="1325880"/>
            <a:ext cx="4281818" cy="4599059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1">
            <a:extLst>
              <a:ext uri="{FF2B5EF4-FFF2-40B4-BE49-F238E27FC236}">
                <a16:creationId xmlns:a16="http://schemas.microsoft.com/office/drawing/2014/main" id="{F4D81CBB-FBC0-5156-F9A9-E395DCB875B9}"/>
              </a:ext>
            </a:extLst>
          </p:cNvPr>
          <p:cNvSpPr/>
          <p:nvPr/>
        </p:nvSpPr>
        <p:spPr>
          <a:xfrm>
            <a:off x="4051352" y="1555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BD13C-B7E4-B954-25C8-AA217E46004A}"/>
              </a:ext>
            </a:extLst>
          </p:cNvPr>
          <p:cNvSpPr txBox="1"/>
          <p:nvPr/>
        </p:nvSpPr>
        <p:spPr>
          <a:xfrm>
            <a:off x="4233299" y="2155372"/>
            <a:ext cx="6097554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E398301A-9C6E-5B99-02BF-856858B8B81D}"/>
              </a:ext>
            </a:extLst>
          </p:cNvPr>
          <p:cNvSpPr/>
          <p:nvPr/>
        </p:nvSpPr>
        <p:spPr>
          <a:xfrm>
            <a:off x="457200" y="71901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34F6648C-1C26-3024-3AF6-6B7743B1ADB0}"/>
              </a:ext>
            </a:extLst>
          </p:cNvPr>
          <p:cNvSpPr/>
          <p:nvPr/>
        </p:nvSpPr>
        <p:spPr>
          <a:xfrm>
            <a:off x="594360" y="560677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100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PROJECT INPUTS &amp; WORKFLOW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3522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70301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PROJECT INPUTS &amp;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26572" y="924943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Stage by Stage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Melanoma Detection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323664"/>
              </p:ext>
            </p:extLst>
          </p:nvPr>
        </p:nvGraphicFramePr>
        <p:xfrm>
          <a:off x="457200" y="1643121"/>
          <a:ext cx="11247120" cy="25420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0187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dermoscopic image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format/quality via FastAPI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Clean, validated image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Ensures downstream models receive a usable input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0187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image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MedSAM generates lesion boundary mask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lesion mask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 boundary is required for reliable ABCD measurement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0187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image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 Transformer V2 predicts class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Benign/Malignant + confidence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diagnostic signal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0187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Extraction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Lesion mask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+ scikit-image compute A/B/C/D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ABCD feature values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Clinically-grounded features for explainability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0187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 (Fusion)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+ mask + ABCD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Agent fuses all signals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case summary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consistent record for retrieval/reporting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0187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Retrieval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summary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Retrieval Agent queries Qdrant via BGE embeddings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medical evidence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Grounds explanation in real literature, reduces unsupported claims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0187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summary + evidence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Agent (LLM+RAG) synthesizes rationale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Evidence-grounded explanation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Bridges model output to clinical reasoning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0187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Generation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 + case data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Generation Agent compiles structured report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view + PDF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Delivers a clinician-usable, referenceable output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6355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PROJECT INPUTS &amp;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93192" y="786384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Requirements &amp; System Outputs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Melanoma Detection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Dermoscopic Skin Lesion Image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one lesion only, fully visible</a:t>
            </a:r>
            <a:endParaRPr lang="en-US" sz="108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lighting; avoid shadows/reflections</a:t>
            </a:r>
            <a:endParaRPr lang="en-US" sz="108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high-resolution image</a:t>
            </a:r>
            <a:endParaRPr lang="en-US" sz="108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directly above the lesion</a:t>
            </a:r>
            <a:endParaRPr lang="en-US" sz="108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filters, blur, hair/bandages</a:t>
            </a:r>
            <a:endParaRPr lang="en-US" sz="108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scale/reference object for diameter</a:t>
            </a:r>
            <a:endParaRPr lang="en-US" sz="108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images welcome, for evolution analysis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formats: JPEG · PNG · JPG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1691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(Benign / Malignant)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098280" y="169164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89720" y="1691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/ Confidence 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2350008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23500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Lesion Mask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98280" y="2350008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89720" y="23500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Feature Values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3008376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92240" y="300837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Explanation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98280" y="3008376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89720" y="300837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Clinical Report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3666744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92240" y="36667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98280" y="3666744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89720" y="36667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PDF Report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4434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output is a bare number — every result is paired with an explanation and supporting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94360" y="560677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spc="100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TARGET USERS / STAKEHOLDERS</a:t>
            </a:r>
            <a:endParaRPr lang="en-US" sz="1200" dirty="0"/>
          </a:p>
        </p:txBody>
      </p:sp>
      <p:sp>
        <p:nvSpPr>
          <p:cNvPr id="3" name="Text 3"/>
          <p:cNvSpPr/>
          <p:nvPr/>
        </p:nvSpPr>
        <p:spPr>
          <a:xfrm>
            <a:off x="457200" y="71901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 &amp; Key Stakeholders</a:t>
            </a:r>
            <a:endParaRPr lang="en-US" sz="3000" dirty="0"/>
          </a:p>
        </p:txBody>
      </p:sp>
      <p:sp>
        <p:nvSpPr>
          <p:cNvPr id="4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Melanoma Detection</a:t>
            </a:r>
            <a:endParaRPr lang="en-US" sz="900" dirty="0"/>
          </a:p>
        </p:txBody>
      </p:sp>
      <p:sp>
        <p:nvSpPr>
          <p:cNvPr id="6" name="Text 6"/>
          <p:cNvSpPr/>
          <p:nvPr/>
        </p:nvSpPr>
        <p:spPr>
          <a:xfrm>
            <a:off x="457200" y="1347657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7" name="Card 7"/>
          <p:cNvSpPr/>
          <p:nvPr/>
        </p:nvSpPr>
        <p:spPr>
          <a:xfrm>
            <a:off x="457200" y="1711977"/>
            <a:ext cx="3703320" cy="100000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Badge 8"/>
          <p:cNvSpPr/>
          <p:nvPr/>
        </p:nvSpPr>
        <p:spPr>
          <a:xfrm>
            <a:off x="587200" y="1841977"/>
            <a:ext cx="400000" cy="4000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BadgeText 9"/>
          <p:cNvSpPr/>
          <p:nvPr/>
        </p:nvSpPr>
        <p:spPr>
          <a:xfrm>
            <a:off x="587200" y="1841977"/>
            <a:ext cx="4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14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14" dirty="0"/>
          </a:p>
        </p:txBody>
      </p:sp>
      <p:sp>
        <p:nvSpPr>
          <p:cNvPr id="10" name="Text 10"/>
          <p:cNvSpPr/>
          <p:nvPr/>
        </p:nvSpPr>
        <p:spPr>
          <a:xfrm>
            <a:off x="1117200" y="1841977"/>
            <a:ext cx="291332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Dermatologists</a:t>
            </a:r>
            <a:endParaRPr lang="en-US" sz="1100" dirty="0"/>
          </a:p>
        </p:txBody>
      </p:sp>
      <p:sp>
        <p:nvSpPr>
          <p:cNvPr id="11" name="Text 11"/>
          <p:cNvSpPr/>
          <p:nvPr/>
        </p:nvSpPr>
        <p:spPr>
          <a:xfrm>
            <a:off x="587200" y="2301977"/>
            <a:ext cx="344332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 findings and use explanations for clinical decision support.</a:t>
            </a:r>
            <a:endParaRPr lang="en-US" sz="900" dirty="0"/>
          </a:p>
        </p:txBody>
      </p:sp>
      <p:sp>
        <p:nvSpPr>
          <p:cNvPr id="12" name="Card 12"/>
          <p:cNvSpPr/>
          <p:nvPr/>
        </p:nvSpPr>
        <p:spPr>
          <a:xfrm>
            <a:off x="4297680" y="1711977"/>
            <a:ext cx="3703320" cy="100000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Badge 13"/>
          <p:cNvSpPr/>
          <p:nvPr/>
        </p:nvSpPr>
        <p:spPr>
          <a:xfrm>
            <a:off x="4427680" y="1841977"/>
            <a:ext cx="400000" cy="4000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BadgeText 14"/>
          <p:cNvSpPr/>
          <p:nvPr/>
        </p:nvSpPr>
        <p:spPr>
          <a:xfrm>
            <a:off x="4427680" y="1841977"/>
            <a:ext cx="4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14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514" dirty="0"/>
          </a:p>
        </p:txBody>
      </p:sp>
      <p:sp>
        <p:nvSpPr>
          <p:cNvPr id="15" name="Text 15"/>
          <p:cNvSpPr/>
          <p:nvPr/>
        </p:nvSpPr>
        <p:spPr>
          <a:xfrm>
            <a:off x="4957680" y="1841977"/>
            <a:ext cx="291332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100" dirty="0"/>
          </a:p>
        </p:txBody>
      </p:sp>
      <p:sp>
        <p:nvSpPr>
          <p:cNvPr id="16" name="Text 16"/>
          <p:cNvSpPr/>
          <p:nvPr/>
        </p:nvSpPr>
        <p:spPr>
          <a:xfrm>
            <a:off x="4427680" y="2301977"/>
            <a:ext cx="344332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scalable AI-assisted melanoma screening and clinical workflows.</a:t>
            </a:r>
            <a:endParaRPr lang="en-US" sz="900" dirty="0"/>
          </a:p>
        </p:txBody>
      </p:sp>
      <p:sp>
        <p:nvSpPr>
          <p:cNvPr id="17" name="Card 17"/>
          <p:cNvSpPr/>
          <p:nvPr/>
        </p:nvSpPr>
        <p:spPr>
          <a:xfrm>
            <a:off x="8138160" y="1711977"/>
            <a:ext cx="3703320" cy="100000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Badge 18"/>
          <p:cNvSpPr/>
          <p:nvPr/>
        </p:nvSpPr>
        <p:spPr>
          <a:xfrm>
            <a:off x="8268160" y="1841977"/>
            <a:ext cx="400000" cy="4000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BadgeText 19"/>
          <p:cNvSpPr/>
          <p:nvPr/>
        </p:nvSpPr>
        <p:spPr>
          <a:xfrm>
            <a:off x="8268160" y="1841977"/>
            <a:ext cx="4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14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14" dirty="0"/>
          </a:p>
        </p:txBody>
      </p:sp>
      <p:sp>
        <p:nvSpPr>
          <p:cNvPr id="20" name="Text 20"/>
          <p:cNvSpPr/>
          <p:nvPr/>
        </p:nvSpPr>
        <p:spPr>
          <a:xfrm>
            <a:off x="8798160" y="1841977"/>
            <a:ext cx="291332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</a:t>
            </a:r>
            <a:endParaRPr lang="en-US" sz="1100" dirty="0"/>
          </a:p>
        </p:txBody>
      </p:sp>
      <p:sp>
        <p:nvSpPr>
          <p:cNvPr id="21" name="Text 21"/>
          <p:cNvSpPr/>
          <p:nvPr/>
        </p:nvSpPr>
        <p:spPr>
          <a:xfrm>
            <a:off x="8268160" y="2301977"/>
            <a:ext cx="344332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accessible AI-assisted lesion assessment for clinical practice.</a:t>
            </a:r>
            <a:endParaRPr lang="en-US" sz="900" dirty="0"/>
          </a:p>
        </p:txBody>
      </p:sp>
      <p:sp>
        <p:nvSpPr>
          <p:cNvPr id="22" name="Card 22"/>
          <p:cNvSpPr/>
          <p:nvPr/>
        </p:nvSpPr>
        <p:spPr>
          <a:xfrm>
            <a:off x="457200" y="2801977"/>
            <a:ext cx="3703320" cy="100000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Badge 23"/>
          <p:cNvSpPr/>
          <p:nvPr/>
        </p:nvSpPr>
        <p:spPr>
          <a:xfrm>
            <a:off x="587200" y="2931977"/>
            <a:ext cx="400000" cy="4000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BadgeText 24"/>
          <p:cNvSpPr/>
          <p:nvPr/>
        </p:nvSpPr>
        <p:spPr>
          <a:xfrm>
            <a:off x="587200" y="2931977"/>
            <a:ext cx="4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14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514" dirty="0"/>
          </a:p>
        </p:txBody>
      </p:sp>
      <p:sp>
        <p:nvSpPr>
          <p:cNvPr id="25" name="Text 25"/>
          <p:cNvSpPr/>
          <p:nvPr/>
        </p:nvSpPr>
        <p:spPr>
          <a:xfrm>
            <a:off x="1117200" y="2931977"/>
            <a:ext cx="291332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Researchers</a:t>
            </a:r>
            <a:endParaRPr lang="en-US" sz="1100" dirty="0"/>
          </a:p>
        </p:txBody>
      </p:sp>
      <p:sp>
        <p:nvSpPr>
          <p:cNvPr id="26" name="Text 26"/>
          <p:cNvSpPr/>
          <p:nvPr/>
        </p:nvSpPr>
        <p:spPr>
          <a:xfrm>
            <a:off x="587200" y="3391977"/>
            <a:ext cx="344332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system and outputs for melanoma AI research and analysis.</a:t>
            </a:r>
            <a:endParaRPr lang="en-US" sz="900" dirty="0"/>
          </a:p>
        </p:txBody>
      </p:sp>
      <p:sp>
        <p:nvSpPr>
          <p:cNvPr id="27" name="Card 27"/>
          <p:cNvSpPr/>
          <p:nvPr/>
        </p:nvSpPr>
        <p:spPr>
          <a:xfrm>
            <a:off x="4297680" y="2801977"/>
            <a:ext cx="3703320" cy="100000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Badge 28"/>
          <p:cNvSpPr/>
          <p:nvPr/>
        </p:nvSpPr>
        <p:spPr>
          <a:xfrm>
            <a:off x="4427680" y="2931977"/>
            <a:ext cx="400000" cy="4000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BadgeText 29"/>
          <p:cNvSpPr/>
          <p:nvPr/>
        </p:nvSpPr>
        <p:spPr>
          <a:xfrm>
            <a:off x="4427680" y="2931977"/>
            <a:ext cx="4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14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514" dirty="0"/>
          </a:p>
        </p:txBody>
      </p:sp>
      <p:sp>
        <p:nvSpPr>
          <p:cNvPr id="30" name="Text 30"/>
          <p:cNvSpPr/>
          <p:nvPr/>
        </p:nvSpPr>
        <p:spPr>
          <a:xfrm>
            <a:off x="4957680" y="2931977"/>
            <a:ext cx="291332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Students</a:t>
            </a:r>
            <a:endParaRPr lang="en-US" sz="1100" dirty="0"/>
          </a:p>
        </p:txBody>
      </p:sp>
      <p:sp>
        <p:nvSpPr>
          <p:cNvPr id="31" name="Text 31"/>
          <p:cNvSpPr/>
          <p:nvPr/>
        </p:nvSpPr>
        <p:spPr>
          <a:xfrm>
            <a:off x="4427680" y="3391977"/>
            <a:ext cx="344332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melanoma assessment, clinical features, and explainable AI.</a:t>
            </a:r>
            <a:endParaRPr lang="en-US" sz="900" dirty="0"/>
          </a:p>
        </p:txBody>
      </p:sp>
      <p:sp>
        <p:nvSpPr>
          <p:cNvPr id="32" name="Card 32"/>
          <p:cNvSpPr/>
          <p:nvPr/>
        </p:nvSpPr>
        <p:spPr>
          <a:xfrm>
            <a:off x="8138160" y="2801977"/>
            <a:ext cx="3703320" cy="100000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Badge 33"/>
          <p:cNvSpPr/>
          <p:nvPr/>
        </p:nvSpPr>
        <p:spPr>
          <a:xfrm>
            <a:off x="8268160" y="2931977"/>
            <a:ext cx="400000" cy="4000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BadgeText 34"/>
          <p:cNvSpPr/>
          <p:nvPr/>
        </p:nvSpPr>
        <p:spPr>
          <a:xfrm>
            <a:off x="8268160" y="2931977"/>
            <a:ext cx="4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14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14" dirty="0"/>
          </a:p>
        </p:txBody>
      </p:sp>
      <p:sp>
        <p:nvSpPr>
          <p:cNvPr id="35" name="Text 35"/>
          <p:cNvSpPr/>
          <p:nvPr/>
        </p:nvSpPr>
        <p:spPr>
          <a:xfrm>
            <a:off x="8798160" y="2931977"/>
            <a:ext cx="291332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— Decision-Support Only</a:t>
            </a:r>
            <a:endParaRPr lang="en-US" sz="1100" dirty="0"/>
          </a:p>
        </p:txBody>
      </p:sp>
      <p:sp>
        <p:nvSpPr>
          <p:cNvPr id="36" name="Text 36"/>
          <p:cNvSpPr/>
          <p:nvPr/>
        </p:nvSpPr>
        <p:spPr>
          <a:xfrm>
            <a:off x="8268160" y="3391977"/>
            <a:ext cx="344332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decision support and understandable information — not a diagnosis.</a:t>
            </a:r>
            <a:endParaRPr lang="en-US" sz="900" dirty="0"/>
          </a:p>
        </p:txBody>
      </p:sp>
      <p:sp>
        <p:nvSpPr>
          <p:cNvPr id="37" name="Text 37"/>
          <p:cNvSpPr/>
          <p:nvPr/>
        </p:nvSpPr>
        <p:spPr>
          <a:xfrm>
            <a:off x="457200" y="3951977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STAKEHOLDERS</a:t>
            </a:r>
            <a:endParaRPr lang="en-US" sz="1200" dirty="0"/>
          </a:p>
        </p:txBody>
      </p:sp>
      <p:sp>
        <p:nvSpPr>
          <p:cNvPr id="38" name="Card 38"/>
          <p:cNvSpPr/>
          <p:nvPr/>
        </p:nvSpPr>
        <p:spPr>
          <a:xfrm>
            <a:off x="457200" y="4316297"/>
            <a:ext cx="2743200" cy="90000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Badge 39"/>
          <p:cNvSpPr/>
          <p:nvPr/>
        </p:nvSpPr>
        <p:spPr>
          <a:xfrm>
            <a:off x="557200" y="4416297"/>
            <a:ext cx="340000" cy="3400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BadgeText 40"/>
          <p:cNvSpPr/>
          <p:nvPr/>
        </p:nvSpPr>
        <p:spPr>
          <a:xfrm>
            <a:off x="557200" y="4416297"/>
            <a:ext cx="34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87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287" dirty="0"/>
          </a:p>
        </p:txBody>
      </p:sp>
      <p:sp>
        <p:nvSpPr>
          <p:cNvPr id="41" name="Text 41"/>
          <p:cNvSpPr/>
          <p:nvPr/>
        </p:nvSpPr>
        <p:spPr>
          <a:xfrm>
            <a:off x="997200" y="4416297"/>
            <a:ext cx="21032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Dermatologists / Clinicians</a:t>
            </a:r>
            <a:endParaRPr lang="en-US" sz="950" dirty="0"/>
          </a:p>
        </p:txBody>
      </p:sp>
      <p:sp>
        <p:nvSpPr>
          <p:cNvPr id="42" name="Text 42"/>
          <p:cNvSpPr/>
          <p:nvPr/>
        </p:nvSpPr>
        <p:spPr>
          <a:xfrm>
            <a:off x="557200" y="4811297"/>
            <a:ext cx="2543200" cy="3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clinical expertise and validate medically meaningful outputs.</a:t>
            </a:r>
            <a:endParaRPr lang="en-US" sz="800" dirty="0"/>
          </a:p>
        </p:txBody>
      </p:sp>
      <p:sp>
        <p:nvSpPr>
          <p:cNvPr id="43" name="Card 43"/>
          <p:cNvSpPr/>
          <p:nvPr/>
        </p:nvSpPr>
        <p:spPr>
          <a:xfrm>
            <a:off x="3337560" y="4316297"/>
            <a:ext cx="2743200" cy="90000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Badge 44"/>
          <p:cNvSpPr/>
          <p:nvPr/>
        </p:nvSpPr>
        <p:spPr>
          <a:xfrm>
            <a:off x="3437560" y="4416297"/>
            <a:ext cx="340000" cy="3400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BadgeText 45"/>
          <p:cNvSpPr/>
          <p:nvPr/>
        </p:nvSpPr>
        <p:spPr>
          <a:xfrm>
            <a:off x="3437560" y="4416297"/>
            <a:ext cx="34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87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287" dirty="0"/>
          </a:p>
        </p:txBody>
      </p:sp>
      <p:sp>
        <p:nvSpPr>
          <p:cNvPr id="46" name="Text 46"/>
          <p:cNvSpPr/>
          <p:nvPr/>
        </p:nvSpPr>
        <p:spPr>
          <a:xfrm>
            <a:off x="3877560" y="4416297"/>
            <a:ext cx="21032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950" dirty="0"/>
          </a:p>
        </p:txBody>
      </p:sp>
      <p:sp>
        <p:nvSpPr>
          <p:cNvPr id="47" name="Text 47"/>
          <p:cNvSpPr/>
          <p:nvPr/>
        </p:nvSpPr>
        <p:spPr>
          <a:xfrm>
            <a:off x="3437560" y="4811297"/>
            <a:ext cx="2543200" cy="3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from clearer, evidence-supported information for decision support.</a:t>
            </a:r>
            <a:endParaRPr lang="en-US" sz="800" dirty="0"/>
          </a:p>
        </p:txBody>
      </p:sp>
      <p:sp>
        <p:nvSpPr>
          <p:cNvPr id="48" name="Card 48"/>
          <p:cNvSpPr/>
          <p:nvPr/>
        </p:nvSpPr>
        <p:spPr>
          <a:xfrm>
            <a:off x="6217920" y="4316297"/>
            <a:ext cx="2743200" cy="90000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Badge 49"/>
          <p:cNvSpPr/>
          <p:nvPr/>
        </p:nvSpPr>
        <p:spPr>
          <a:xfrm>
            <a:off x="6317920" y="4416297"/>
            <a:ext cx="340000" cy="3400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BadgeText 50"/>
          <p:cNvSpPr/>
          <p:nvPr/>
        </p:nvSpPr>
        <p:spPr>
          <a:xfrm>
            <a:off x="6317920" y="4416297"/>
            <a:ext cx="34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87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287" dirty="0"/>
          </a:p>
        </p:txBody>
      </p:sp>
      <p:sp>
        <p:nvSpPr>
          <p:cNvPr id="51" name="Text 51"/>
          <p:cNvSpPr/>
          <p:nvPr/>
        </p:nvSpPr>
        <p:spPr>
          <a:xfrm>
            <a:off x="6757920" y="4416297"/>
            <a:ext cx="21032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&amp; Clinics</a:t>
            </a:r>
            <a:endParaRPr lang="en-US" sz="950" dirty="0"/>
          </a:p>
        </p:txBody>
      </p:sp>
      <p:sp>
        <p:nvSpPr>
          <p:cNvPr id="52" name="Text 52"/>
          <p:cNvSpPr/>
          <p:nvPr/>
        </p:nvSpPr>
        <p:spPr>
          <a:xfrm>
            <a:off x="6317920" y="4811297"/>
            <a:ext cx="2543200" cy="3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adoption and integration into healthcare workflows.</a:t>
            </a:r>
            <a:endParaRPr lang="en-US" sz="800" dirty="0"/>
          </a:p>
        </p:txBody>
      </p:sp>
      <p:sp>
        <p:nvSpPr>
          <p:cNvPr id="53" name="Card 53"/>
          <p:cNvSpPr/>
          <p:nvPr/>
        </p:nvSpPr>
        <p:spPr>
          <a:xfrm>
            <a:off x="9098280" y="4316297"/>
            <a:ext cx="2743200" cy="90000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Badge 54"/>
          <p:cNvSpPr/>
          <p:nvPr/>
        </p:nvSpPr>
        <p:spPr>
          <a:xfrm>
            <a:off x="9198280" y="4416297"/>
            <a:ext cx="340000" cy="3400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BadgeText 55"/>
          <p:cNvSpPr/>
          <p:nvPr/>
        </p:nvSpPr>
        <p:spPr>
          <a:xfrm>
            <a:off x="9198280" y="4416297"/>
            <a:ext cx="34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87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287" dirty="0"/>
          </a:p>
        </p:txBody>
      </p:sp>
      <p:sp>
        <p:nvSpPr>
          <p:cNvPr id="56" name="Text 56"/>
          <p:cNvSpPr/>
          <p:nvPr/>
        </p:nvSpPr>
        <p:spPr>
          <a:xfrm>
            <a:off x="9638280" y="4416297"/>
            <a:ext cx="21032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Researchers</a:t>
            </a:r>
            <a:endParaRPr lang="en-US" sz="950" dirty="0"/>
          </a:p>
        </p:txBody>
      </p:sp>
      <p:sp>
        <p:nvSpPr>
          <p:cNvPr id="57" name="Text 57"/>
          <p:cNvSpPr/>
          <p:nvPr/>
        </p:nvSpPr>
        <p:spPr>
          <a:xfrm>
            <a:off x="9198280" y="4811297"/>
            <a:ext cx="2543200" cy="3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Evaluate, improve, and extend the system for medical AI research.</a:t>
            </a:r>
            <a:endParaRPr lang="en-US" sz="800" dirty="0"/>
          </a:p>
        </p:txBody>
      </p:sp>
      <p:sp>
        <p:nvSpPr>
          <p:cNvPr id="58" name="Card 58"/>
          <p:cNvSpPr/>
          <p:nvPr/>
        </p:nvSpPr>
        <p:spPr>
          <a:xfrm>
            <a:off x="457200" y="5306297"/>
            <a:ext cx="2743200" cy="90000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Badge 59"/>
          <p:cNvSpPr/>
          <p:nvPr/>
        </p:nvSpPr>
        <p:spPr>
          <a:xfrm>
            <a:off x="557200" y="5406297"/>
            <a:ext cx="340000" cy="3400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BadgeText 60"/>
          <p:cNvSpPr/>
          <p:nvPr/>
        </p:nvSpPr>
        <p:spPr>
          <a:xfrm>
            <a:off x="557200" y="5406297"/>
            <a:ext cx="34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87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287" dirty="0"/>
          </a:p>
        </p:txBody>
      </p:sp>
      <p:sp>
        <p:nvSpPr>
          <p:cNvPr id="61" name="Text 61"/>
          <p:cNvSpPr/>
          <p:nvPr/>
        </p:nvSpPr>
        <p:spPr>
          <a:xfrm>
            <a:off x="997200" y="5406297"/>
            <a:ext cx="21032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Development Team</a:t>
            </a:r>
            <a:endParaRPr lang="en-US" sz="950" dirty="0"/>
          </a:p>
        </p:txBody>
      </p:sp>
      <p:sp>
        <p:nvSpPr>
          <p:cNvPr id="62" name="Text 62"/>
          <p:cNvSpPr/>
          <p:nvPr/>
        </p:nvSpPr>
        <p:spPr>
          <a:xfrm>
            <a:off x="557200" y="5801297"/>
            <a:ext cx="2543200" cy="3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Develop, integrate, test, and maintain the complete system.</a:t>
            </a:r>
            <a:endParaRPr lang="en-US" sz="800" dirty="0"/>
          </a:p>
        </p:txBody>
      </p:sp>
      <p:sp>
        <p:nvSpPr>
          <p:cNvPr id="63" name="Card 63"/>
          <p:cNvSpPr/>
          <p:nvPr/>
        </p:nvSpPr>
        <p:spPr>
          <a:xfrm>
            <a:off x="3337560" y="5306297"/>
            <a:ext cx="2743200" cy="90000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Badge 64"/>
          <p:cNvSpPr/>
          <p:nvPr/>
        </p:nvSpPr>
        <p:spPr>
          <a:xfrm>
            <a:off x="3437560" y="5406297"/>
            <a:ext cx="340000" cy="3400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BadgeText 65"/>
          <p:cNvSpPr/>
          <p:nvPr/>
        </p:nvSpPr>
        <p:spPr>
          <a:xfrm>
            <a:off x="3437560" y="5406297"/>
            <a:ext cx="34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87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287" dirty="0"/>
          </a:p>
        </p:txBody>
      </p:sp>
      <p:sp>
        <p:nvSpPr>
          <p:cNvPr id="66" name="Text 66"/>
          <p:cNvSpPr/>
          <p:nvPr/>
        </p:nvSpPr>
        <p:spPr>
          <a:xfrm>
            <a:off x="3877560" y="5406297"/>
            <a:ext cx="21032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Mentor / Faculty</a:t>
            </a:r>
            <a:endParaRPr lang="en-US" sz="950" dirty="0"/>
          </a:p>
        </p:txBody>
      </p:sp>
      <p:sp>
        <p:nvSpPr>
          <p:cNvPr id="67" name="Text 67"/>
          <p:cNvSpPr/>
          <p:nvPr/>
        </p:nvSpPr>
        <p:spPr>
          <a:xfrm>
            <a:off x="3437560" y="5801297"/>
            <a:ext cx="2543200" cy="3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the project's technical, research, and academic direction.</a:t>
            </a:r>
            <a:endParaRPr lang="en-US" sz="800" dirty="0"/>
          </a:p>
        </p:txBody>
      </p:sp>
      <p:sp>
        <p:nvSpPr>
          <p:cNvPr id="68" name="Card 68"/>
          <p:cNvSpPr/>
          <p:nvPr/>
        </p:nvSpPr>
        <p:spPr>
          <a:xfrm>
            <a:off x="6217920" y="5306297"/>
            <a:ext cx="2743200" cy="90000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Badge 69"/>
          <p:cNvSpPr/>
          <p:nvPr/>
        </p:nvSpPr>
        <p:spPr>
          <a:xfrm>
            <a:off x="6317920" y="5406297"/>
            <a:ext cx="340000" cy="3400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BadgeText 70"/>
          <p:cNvSpPr/>
          <p:nvPr/>
        </p:nvSpPr>
        <p:spPr>
          <a:xfrm>
            <a:off x="6317920" y="5406297"/>
            <a:ext cx="34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87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287" dirty="0"/>
          </a:p>
        </p:txBody>
      </p:sp>
      <p:sp>
        <p:nvSpPr>
          <p:cNvPr id="71" name="Text 71"/>
          <p:cNvSpPr/>
          <p:nvPr/>
        </p:nvSpPr>
        <p:spPr>
          <a:xfrm>
            <a:off x="6757920" y="5406297"/>
            <a:ext cx="21032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Institution (KMIT)</a:t>
            </a:r>
            <a:endParaRPr lang="en-US" sz="950" dirty="0"/>
          </a:p>
        </p:txBody>
      </p:sp>
      <p:sp>
        <p:nvSpPr>
          <p:cNvPr id="72" name="Text 72"/>
          <p:cNvSpPr/>
          <p:nvPr/>
        </p:nvSpPr>
        <p:spPr>
          <a:xfrm>
            <a:off x="6317920" y="5801297"/>
            <a:ext cx="2543200" cy="3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academic environment and institutional support.</a:t>
            </a:r>
            <a:endParaRPr lang="en-US" sz="800" dirty="0"/>
          </a:p>
        </p:txBody>
      </p:sp>
      <p:sp>
        <p:nvSpPr>
          <p:cNvPr id="73" name="Card 73"/>
          <p:cNvSpPr/>
          <p:nvPr/>
        </p:nvSpPr>
        <p:spPr>
          <a:xfrm>
            <a:off x="9098280" y="5306297"/>
            <a:ext cx="2743200" cy="90000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50800" dist="25400" dir="5400000" algn="bl" rotWithShape="0">
              <a:srgbClr val="94A3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Badge 74"/>
          <p:cNvSpPr/>
          <p:nvPr/>
        </p:nvSpPr>
        <p:spPr>
          <a:xfrm>
            <a:off x="9198280" y="5406297"/>
            <a:ext cx="340000" cy="3400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BadgeText 75"/>
          <p:cNvSpPr/>
          <p:nvPr/>
        </p:nvSpPr>
        <p:spPr>
          <a:xfrm>
            <a:off x="9198280" y="5406297"/>
            <a:ext cx="34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87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87" dirty="0"/>
          </a:p>
        </p:txBody>
      </p:sp>
      <p:sp>
        <p:nvSpPr>
          <p:cNvPr id="76" name="Text 76"/>
          <p:cNvSpPr/>
          <p:nvPr/>
        </p:nvSpPr>
        <p:spPr>
          <a:xfrm>
            <a:off x="9638280" y="5406297"/>
            <a:ext cx="21032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/ Clinical Administrators</a:t>
            </a:r>
            <a:endParaRPr lang="en-US" sz="950" dirty="0"/>
          </a:p>
        </p:txBody>
      </p:sp>
      <p:sp>
        <p:nvSpPr>
          <p:cNvPr id="77" name="Text 77"/>
          <p:cNvSpPr/>
          <p:nvPr/>
        </p:nvSpPr>
        <p:spPr>
          <a:xfrm>
            <a:off x="9198280" y="5801297"/>
            <a:ext cx="2543200" cy="3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implementation, usability, governance, and operational adoption.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420672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0142" y="599585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PROPOSED DEPLOYMENT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93192" y="736745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Melanoma Detection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97480" cy="1463040"/>
          </a:xfrm>
          <a:prstGeom prst="roundRect">
            <a:avLst>
              <a:gd name="adj" fmla="val 437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97480" cy="1463040"/>
          </a:xfrm>
          <a:prstGeom prst="roundRect">
            <a:avLst>
              <a:gd name="adj" fmla="val 437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554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0" y="19659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Railway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697480" cy="1463040"/>
          </a:xfrm>
          <a:prstGeom prst="roundRect">
            <a:avLst>
              <a:gd name="adj" fmla="val 4375"/>
            </a:avLst>
          </a:prstGeom>
          <a:solidFill>
            <a:srgbClr val="E6E9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1554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DATABASE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55080" y="19659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Atlas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55080" y="25146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098280" y="1417320"/>
            <a:ext cx="2697480" cy="1463040"/>
          </a:xfrm>
          <a:prstGeom prst="roundRect">
            <a:avLst>
              <a:gd name="adj" fmla="val 4375"/>
            </a:avLst>
          </a:prstGeom>
          <a:solidFill>
            <a:srgbClr val="E6E9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35440" y="1554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STORAGE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235440" y="19659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Cloudinary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35440" y="25146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FLOW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1489166" cy="594360"/>
          </a:xfrm>
          <a:prstGeom prst="roundRect">
            <a:avLst>
              <a:gd name="adj" fmla="val 9231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148916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00646" y="3657600"/>
            <a:ext cx="228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083526" y="3657600"/>
            <a:ext cx="1489166" cy="594360"/>
          </a:xfrm>
          <a:prstGeom prst="roundRect">
            <a:avLst>
              <a:gd name="adj" fmla="val 9231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083526" y="3657600"/>
            <a:ext cx="148916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6971" y="3657600"/>
            <a:ext cx="228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09851" y="3657600"/>
            <a:ext cx="1489166" cy="594360"/>
          </a:xfrm>
          <a:prstGeom prst="roundRect">
            <a:avLst>
              <a:gd name="adj" fmla="val 9231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09851" y="3657600"/>
            <a:ext cx="148916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53297" y="3657600"/>
            <a:ext cx="228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36177" y="3657600"/>
            <a:ext cx="1489166" cy="594360"/>
          </a:xfrm>
          <a:prstGeom prst="roundRect">
            <a:avLst>
              <a:gd name="adj" fmla="val 9231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36177" y="3657600"/>
            <a:ext cx="148916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79623" y="3657600"/>
            <a:ext cx="228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62503" y="3657600"/>
            <a:ext cx="1489166" cy="594360"/>
          </a:xfrm>
          <a:prstGeom prst="roundRect">
            <a:avLst>
              <a:gd name="adj" fmla="val 9231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62503" y="3657600"/>
            <a:ext cx="148916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05949" y="3657600"/>
            <a:ext cx="228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88829" y="3657600"/>
            <a:ext cx="1489166" cy="594360"/>
          </a:xfrm>
          <a:prstGeom prst="roundRect">
            <a:avLst>
              <a:gd name="adj" fmla="val 9231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588829" y="3657600"/>
            <a:ext cx="148916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617720"/>
            <a:ext cx="11247120" cy="1737360"/>
          </a:xfrm>
          <a:prstGeom prst="roundRect">
            <a:avLst>
              <a:gd name="adj" fmla="val 368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1520" y="48006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deployment keeps the model-serving backend decoupled from the presentation layer, enabling independent scaling of inference workloads and rapid CI/CD iteration. MongoDB Atlas and Cloudinary are planned additions for persistence and media storage as the project matures beyond Milestone I.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600705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100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PROPOSED DEPLOYMENT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93192" y="737865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of Our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Melanoma Detection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(CEFM)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371600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classification + segmentation + ABC contrastive alignment + CLIP + DeepSeek LLM report. 92.79% accuracy, AUC 0.961.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11247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24328"/>
            <a:ext cx="11247120" cy="1051560"/>
          </a:xfrm>
          <a:prstGeom prst="roundRect">
            <a:avLst>
              <a:gd name="adj" fmla="val 6087"/>
            </a:avLst>
          </a:prstGeom>
          <a:solidFill>
            <a:srgbClr val="8A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624328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Limitations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624328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only (no explicit Diameter); explanations grounded solely in learned contrastive alignment, not external evidence; single-stage pipeline.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75888"/>
            <a:ext cx="11247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877056"/>
            <a:ext cx="11247120" cy="1051560"/>
          </a:xfrm>
          <a:prstGeom prst="roundRect">
            <a:avLst>
              <a:gd name="adj" fmla="val 6087"/>
            </a:avLst>
          </a:prstGeom>
          <a:solidFill>
            <a:srgbClr val="0187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877056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Extensions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3877056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MedSAM segmentation; ABCDE (adds Diameter and Evolution); RAG-grounded evidence retrieval via Qdrant; 4-agent orchestrated architecture; FastAPI + React deployment.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928616"/>
            <a:ext cx="11247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129784"/>
            <a:ext cx="1124712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5129784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Novel Contribution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5129784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agentic, retrieval-grounded extension of CEFM that pairs precise segmentation and full ABCD clinical features with RAG-sourced medical evidence for LLM-generated, evidence-traceable clinical reports.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22706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Vision Transformers, MedSAM, RAG and LLMs are established technologies — the novelty claimed here is their specific integration for evidence-grounded melanoma reporting, not the individual components.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571" y="743743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· EXPECTED OUTPUTS &amp;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26571" y="9829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— Planned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Melanoma Detection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40487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lesions correctly classified overall.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8745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34840" y="2011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34840" y="240487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predicted-malignant cases, how many truly are.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0" y="2011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240487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malignant cases, how many are caught.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400507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precision and recall in one number.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34747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34840" y="3611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34840" y="400507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correctly flag true melanoma cases.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34747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0" y="3611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0" y="400507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correctly clear benign lesions.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0749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52120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560527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separability across all thresholds.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51960" y="50749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34840" y="52120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Score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434840" y="560527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between predicted and true lesion mask.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0" y="50749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9600" y="52120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29600" y="560527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Strictness-adjusted mask overlap ratio.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14300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Melanoma detection needs both accuracy and clinician trust — black-box predictions alone aren't enough.</a:t>
            </a:r>
            <a:endParaRPr lang="en-US" sz="1500" dirty="0">
              <a:solidFill>
                <a:srgbClr val="002060"/>
              </a:solidFill>
            </a:endParaRPr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the CEFM base paper's ViT + contrastive-alignment + LLM pipeline, this project extends it with MedSAM segmentation, full ABCDE clinical features, RAG-grounded evidence retrieval and a 4-agent orchestrated architecture.</a:t>
            </a:r>
            <a:endParaRPr lang="en-US" sz="1500" dirty="0">
              <a:solidFill>
                <a:srgbClr val="002060"/>
              </a:solidFill>
            </a:endParaRPr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system designed to pair accurate classification/segmentation with evidence-traceable, clinically meaningful explanations — deployed via a FastAPI + React stack.</a:t>
            </a:r>
            <a:endParaRPr lang="en-US" sz="1500" dirty="0">
              <a:solidFill>
                <a:srgbClr val="002060"/>
              </a:solidFill>
            </a:endParaRPr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ISIC </a:t>
            </a:r>
            <a:r>
              <a:rPr lang="en-US" sz="150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and 2020 </a:t>
            </a:r>
            <a:r>
              <a:rPr lang="en-US" sz="15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(Accuracy, Sensitivity, Specificity, AUC, Dice, IoU, etc.) is planned as the next milestone.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Melanoma Detection</a:t>
            </a:r>
            <a:endParaRPr lang="en-US" sz="9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C6AFA57A-87D6-50DB-E87C-F3800E3E9364}"/>
              </a:ext>
            </a:extLst>
          </p:cNvPr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CONCLUSION &amp; FUTURE SCOPE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CONCLUSION &amp; 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0112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Melanoma Detection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46304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34840" y="16459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3484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21488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Clinical Integration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0" y="16459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21488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Detection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70332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51960" y="301752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34840" y="3200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348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34840" y="370332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Integration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46720" y="301752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29600" y="3200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370332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0080" y="4754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52578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History Integration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251960" y="457200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434840" y="4754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43484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434840" y="52578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Voice-Enabled Reports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046720" y="457200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229600" y="4754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2960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0" y="52578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Explainable AI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1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CONCLUSION &amp; 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7557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Melanoma Detection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Field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0" y="141732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4640" y="141732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0" y="141732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0" y="141732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MedSAM Segmentation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0" y="141732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06640" y="141732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01200" y="141732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92640" y="141732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51460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Reading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0" y="251460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34640" y="251460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0" y="251460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0" y="251460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0" y="251460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06640" y="251460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01200" y="251460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92640" y="251460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61188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0" y="36118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834640" y="361188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0" y="36118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20640" y="361188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0" y="36118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06640" y="361188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Paper Writing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601200" y="36118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92640" y="361188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spans medical AI research, full-stack engineering, modern LLM/RAG techniques, cloud deployment, and academic skills like IEEE paper writing.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>
              <a:solidFill>
                <a:srgbClr val="00206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Melanoma Detection Using Vision Transformers, MedSAM, RAG and LLM-Based Clinical Report Generation</a:t>
            </a:r>
            <a:endParaRPr lang="en-US" sz="1300" dirty="0">
              <a:solidFill>
                <a:srgbClr val="C0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G1362</a:t>
            </a:r>
            <a:endParaRPr lang="en-US" sz="13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2666</Words>
  <Application>Microsoft Office PowerPoint</Application>
  <PresentationFormat>Widescreen</PresentationFormat>
  <Paragraphs>424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sairam nellutla</cp:lastModifiedBy>
  <cp:revision>13</cp:revision>
  <dcterms:created xsi:type="dcterms:W3CDTF">2026-08-11T04:01:55Z</dcterms:created>
  <dcterms:modified xsi:type="dcterms:W3CDTF">2026-08-11T10:00:45Z</dcterms:modified>
</cp:coreProperties>
</file>