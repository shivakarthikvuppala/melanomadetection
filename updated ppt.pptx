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80" r:id="rId3"/>
    <p:sldId id="323" r:id="rId4"/>
    <p:sldId id="328" r:id="rId5"/>
    <p:sldId id="322" r:id="rId6"/>
    <p:sldId id="321" r:id="rId7"/>
    <p:sldId id="320" r:id="rId8"/>
    <p:sldId id="319" r:id="rId9"/>
    <p:sldId id="324" r:id="rId10"/>
    <p:sldId id="325" r:id="rId11"/>
    <p:sldId id="326" r:id="rId12"/>
    <p:sldId id="327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duru Monish Sai Abhiram" userId="4d32ad018a405900" providerId="LiveId" clId="{393ECAEE-D5D8-4A47-B284-9568821C8309}"/>
    <pc:docChg chg="modSld">
      <pc:chgData name="Chunduru Monish Sai Abhiram" userId="4d32ad018a405900" providerId="LiveId" clId="{393ECAEE-D5D8-4A47-B284-9568821C8309}" dt="2026-03-27T16:34:04.140" v="1" actId="20577"/>
      <pc:docMkLst>
        <pc:docMk/>
      </pc:docMkLst>
      <pc:sldChg chg="modSp mod">
        <pc:chgData name="Chunduru Monish Sai Abhiram" userId="4d32ad018a405900" providerId="LiveId" clId="{393ECAEE-D5D8-4A47-B284-9568821C8309}" dt="2026-03-27T14:03:39.950" v="0" actId="1076"/>
        <pc:sldMkLst>
          <pc:docMk/>
          <pc:sldMk cId="3223661781" sldId="258"/>
        </pc:sldMkLst>
        <pc:spChg chg="mod">
          <ac:chgData name="Chunduru Monish Sai Abhiram" userId="4d32ad018a405900" providerId="LiveId" clId="{393ECAEE-D5D8-4A47-B284-9568821C8309}" dt="2026-03-27T14:03:39.950" v="0" actId="1076"/>
          <ac:spMkLst>
            <pc:docMk/>
            <pc:sldMk cId="3223661781" sldId="258"/>
            <ac:spMk id="4" creationId="{1C65CB75-C0BF-49CC-2D4C-6D5FB9214585}"/>
          </ac:spMkLst>
        </pc:spChg>
      </pc:sldChg>
      <pc:sldChg chg="modSp mod">
        <pc:chgData name="Chunduru Monish Sai Abhiram" userId="4d32ad018a405900" providerId="LiveId" clId="{393ECAEE-D5D8-4A47-B284-9568821C8309}" dt="2026-03-27T16:34:04.140" v="1" actId="20577"/>
        <pc:sldMkLst>
          <pc:docMk/>
          <pc:sldMk cId="4186805769" sldId="318"/>
        </pc:sldMkLst>
        <pc:spChg chg="mod">
          <ac:chgData name="Chunduru Monish Sai Abhiram" userId="4d32ad018a405900" providerId="LiveId" clId="{393ECAEE-D5D8-4A47-B284-9568821C8309}" dt="2026-03-27T16:34:04.140" v="1" actId="20577"/>
          <ac:spMkLst>
            <pc:docMk/>
            <pc:sldMk cId="4186805769" sldId="318"/>
            <ac:spMk id="2" creationId="{9E4F58E0-2E87-351A-4DA8-5D6AF3B8AC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594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28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71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30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151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06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 – G-1362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Monish – 24BD1A050E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Sai Ramanuja – 24BD1A0519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Shubham – 24BD1A051M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Shivakarthik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24BD1A05K3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Subhash – 25BD5A0532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Dr. K. Bhargavi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57B66-9FD6-0C6E-CA02-B14B07546EC8}"/>
              </a:ext>
            </a:extLst>
          </p:cNvPr>
          <p:cNvSpPr txBox="1"/>
          <p:nvPr/>
        </p:nvSpPr>
        <p:spPr>
          <a:xfrm>
            <a:off x="1611824" y="2874936"/>
            <a:ext cx="9198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32D37"/>
                </a:solidFill>
              </a:rPr>
              <a:t>An Agentic Retrieval-Augmented Framework for
Explainable Melanoma Diagnosis using Clinical Features</a:t>
            </a:r>
          </a:p>
          <a:p>
            <a:r>
              <a:rPr lang="en-IN" sz="2400" dirty="0"/>
              <a:t>			</a:t>
            </a:r>
            <a:r>
              <a:rPr lang="en-IN" sz="2000" b="1" dirty="0"/>
              <a:t>Date: 18</a:t>
            </a:r>
            <a:r>
              <a:rPr lang="en-IN" sz="2000" b="1" baseline="30000" dirty="0"/>
              <a:t>th</a:t>
            </a:r>
            <a:r>
              <a:rPr lang="en-IN" sz="2000" b="1" dirty="0"/>
              <a:t> September,2026</a:t>
            </a: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21685-888A-7001-B9C7-0B967616811B}"/>
              </a:ext>
            </a:extLst>
          </p:cNvPr>
          <p:cNvSpPr txBox="1"/>
          <p:nvPr/>
        </p:nvSpPr>
        <p:spPr>
          <a:xfrm>
            <a:off x="802602" y="215655"/>
            <a:ext cx="65105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— CEFM</a:t>
            </a:r>
            <a:endParaRPr 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72664-BA16-548E-CAE1-836906BA308A}"/>
              </a:ext>
            </a:extLst>
          </p:cNvPr>
          <p:cNvSpPr txBox="1"/>
          <p:nvPr/>
        </p:nvSpPr>
        <p:spPr>
          <a:xfrm>
            <a:off x="310897" y="764085"/>
            <a:ext cx="11756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Explainable Melanoma Diagnosis with Contrastive Learning and LLM-based Report Generation</a:t>
            </a:r>
            <a:br>
              <a:rPr lang="en-IN" dirty="0"/>
            </a:br>
            <a:r>
              <a:rPr lang="en-IN" i="1" dirty="0"/>
              <a:t>Zheng et al. |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9291B-93A6-D2CF-9421-10EF5DADC6B8}"/>
              </a:ext>
            </a:extLst>
          </p:cNvPr>
          <p:cNvSpPr txBox="1"/>
          <p:nvPr/>
        </p:nvSpPr>
        <p:spPr>
          <a:xfrm>
            <a:off x="273589" y="1697813"/>
            <a:ext cx="61611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Problem:</a:t>
            </a:r>
            <a:r>
              <a:rPr lang="en-IN" sz="1600" dirty="0"/>
              <a:t> High-performing melanoma AI models can behave as black boxes, making their predictions difficult for clinicians to interpret and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CEFM connects visual image features with clinically meaningful ABC features to make melanoma predictions more interpretable.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Workflow: </a:t>
            </a:r>
            <a:r>
              <a:rPr lang="en-US" sz="1700" dirty="0"/>
              <a:t>Image -&gt; </a:t>
            </a:r>
            <a:r>
              <a:rPr lang="en-US" sz="1700" dirty="0" err="1"/>
              <a:t>ViT</a:t>
            </a:r>
            <a:r>
              <a:rPr lang="en-US" sz="1700" dirty="0"/>
              <a:t>  -&gt;Lesion Segmentation -&gt; ABC feature extraction -&gt; Contrastive Learning Classification + Report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Results: </a:t>
            </a:r>
            <a:r>
              <a:rPr lang="en-US" sz="1700" dirty="0"/>
              <a:t>92.79% Accuracy | 0.961 AUC | 4.6/5 Expert Interpretability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Limitation: </a:t>
            </a:r>
            <a:r>
              <a:rPr lang="en-IN" sz="1600" dirty="0"/>
              <a:t>CEFM focuses on ABC clinical features and does not include </a:t>
            </a:r>
            <a:r>
              <a:rPr lang="en-IN" sz="1600" b="1" dirty="0"/>
              <a:t>Differential Structure analysis</a:t>
            </a:r>
            <a:r>
              <a:rPr lang="en-IN" sz="1600" dirty="0"/>
              <a:t> because fine-grained expert annotations are difficult to obtain.</a:t>
            </a:r>
            <a:endParaRPr lang="en-IN" sz="1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993151D-F7C0-CADC-DE1F-806A9121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67" y="1078850"/>
            <a:ext cx="5479120" cy="522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1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2F3779B-8DB7-313A-7AEB-C8E292812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6B83FA-52BD-935A-96E5-15432CDC0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3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System Design : Architecture </a:t>
            </a:r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7730CC-802B-E1C8-7FF2-22A7E33BD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47" y="784396"/>
            <a:ext cx="8082428" cy="56264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94952E-09AC-77EF-4402-6A521A0AE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875" y="699992"/>
            <a:ext cx="3638677" cy="545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Technology Stack</a:t>
            </a:r>
            <a:endParaRPr lang="en-US" sz="3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FBBB9B-981C-7051-350A-5A8D6717EEB0}"/>
              </a:ext>
            </a:extLst>
          </p:cNvPr>
          <p:cNvSpPr/>
          <p:nvPr/>
        </p:nvSpPr>
        <p:spPr>
          <a:xfrm>
            <a:off x="706790" y="845952"/>
            <a:ext cx="3981447" cy="14693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34649A-73D8-9DAA-9289-6A6FCFF71FE1}"/>
              </a:ext>
            </a:extLst>
          </p:cNvPr>
          <p:cNvSpPr/>
          <p:nvPr/>
        </p:nvSpPr>
        <p:spPr>
          <a:xfrm>
            <a:off x="706790" y="2461272"/>
            <a:ext cx="3981447" cy="20621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A560D0-0F86-1668-CC49-09DFDEF6E57A}"/>
              </a:ext>
            </a:extLst>
          </p:cNvPr>
          <p:cNvSpPr/>
          <p:nvPr/>
        </p:nvSpPr>
        <p:spPr>
          <a:xfrm>
            <a:off x="706790" y="4638328"/>
            <a:ext cx="3981447" cy="159199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F2544D-55BB-F9EE-6214-63567A8DABCC}"/>
              </a:ext>
            </a:extLst>
          </p:cNvPr>
          <p:cNvSpPr/>
          <p:nvPr/>
        </p:nvSpPr>
        <p:spPr>
          <a:xfrm>
            <a:off x="5415692" y="845952"/>
            <a:ext cx="3906539" cy="14646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F09DCC-D41E-A6F4-7404-E4E24A324DB4}"/>
              </a:ext>
            </a:extLst>
          </p:cNvPr>
          <p:cNvSpPr/>
          <p:nvPr/>
        </p:nvSpPr>
        <p:spPr>
          <a:xfrm>
            <a:off x="5415692" y="2456524"/>
            <a:ext cx="3981447" cy="20621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A6AB60-CB99-3B54-43F1-62FF208884B6}"/>
              </a:ext>
            </a:extLst>
          </p:cNvPr>
          <p:cNvSpPr/>
          <p:nvPr/>
        </p:nvSpPr>
        <p:spPr>
          <a:xfrm>
            <a:off x="5415692" y="4638328"/>
            <a:ext cx="3981447" cy="15919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14F5E-3AB9-8945-316B-5059F25C2BBD}"/>
              </a:ext>
            </a:extLst>
          </p:cNvPr>
          <p:cNvSpPr txBox="1"/>
          <p:nvPr/>
        </p:nvSpPr>
        <p:spPr>
          <a:xfrm>
            <a:off x="937647" y="991892"/>
            <a:ext cx="3502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Frontend</a:t>
            </a:r>
          </a:p>
          <a:p>
            <a:r>
              <a:rPr lang="en-IN" sz="1600" b="1" dirty="0"/>
              <a:t>React 19 + Vite 8 + CSS3 + </a:t>
            </a:r>
            <a:r>
              <a:rPr lang="en-IN" sz="1600" b="1" dirty="0" err="1"/>
              <a:t>jsPDF</a:t>
            </a:r>
            <a:br>
              <a:rPr lang="en-IN" sz="1600" dirty="0"/>
            </a:br>
            <a:r>
              <a:rPr lang="en-IN" sz="1600" dirty="0"/>
              <a:t>Interactive dashboard, image upload, visualization and PDF export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E8DE92-35F2-8F95-3A33-462DC0C576DD}"/>
              </a:ext>
            </a:extLst>
          </p:cNvPr>
          <p:cNvSpPr txBox="1"/>
          <p:nvPr/>
        </p:nvSpPr>
        <p:spPr>
          <a:xfrm>
            <a:off x="5580602" y="991892"/>
            <a:ext cx="36516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Backend &amp; API</a:t>
            </a:r>
          </a:p>
          <a:p>
            <a:r>
              <a:rPr lang="en-IN" sz="1600" b="1" dirty="0"/>
              <a:t>Python 3.10+ + </a:t>
            </a:r>
            <a:r>
              <a:rPr lang="en-IN" sz="1600" b="1" dirty="0" err="1"/>
              <a:t>FastAPI</a:t>
            </a:r>
            <a:r>
              <a:rPr lang="en-IN" sz="1600" b="1" dirty="0"/>
              <a:t> + </a:t>
            </a:r>
            <a:r>
              <a:rPr lang="en-IN" sz="1600" b="1" dirty="0" err="1"/>
              <a:t>Uvicorn</a:t>
            </a:r>
            <a:r>
              <a:rPr lang="en-IN" sz="1600" b="1" dirty="0"/>
              <a:t> + </a:t>
            </a:r>
            <a:r>
              <a:rPr lang="en-IN" sz="1600" b="1" dirty="0" err="1"/>
              <a:t>Pydantic</a:t>
            </a:r>
            <a:br>
              <a:rPr lang="en-IN" sz="1600" dirty="0"/>
            </a:br>
            <a:r>
              <a:rPr lang="en-IN" sz="1600" dirty="0"/>
              <a:t>REST API, validation and backend pipeline integration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A1B24-BC2F-6D59-9B03-6F86D1052619}"/>
              </a:ext>
            </a:extLst>
          </p:cNvPr>
          <p:cNvSpPr txBox="1"/>
          <p:nvPr/>
        </p:nvSpPr>
        <p:spPr>
          <a:xfrm>
            <a:off x="882943" y="2468978"/>
            <a:ext cx="37355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Deep Learning &amp; Computer Vision</a:t>
            </a:r>
          </a:p>
          <a:p>
            <a:r>
              <a:rPr lang="en-IN" sz="1600" b="1" dirty="0" err="1"/>
              <a:t>PyTorch</a:t>
            </a:r>
            <a:r>
              <a:rPr lang="en-IN" sz="1600" b="1" dirty="0"/>
              <a:t> + Swin Transformer V2-Base + </a:t>
            </a:r>
            <a:r>
              <a:rPr lang="en-IN" sz="1600" b="1" dirty="0" err="1"/>
              <a:t>SegFormer</a:t>
            </a:r>
            <a:r>
              <a:rPr lang="en-IN" sz="1600" b="1" dirty="0"/>
              <a:t> (MiT-B2)</a:t>
            </a:r>
            <a:br>
              <a:rPr lang="en-IN" sz="1600" dirty="0"/>
            </a:br>
            <a:r>
              <a:rPr lang="en-IN" sz="1600" dirty="0"/>
              <a:t>Classification + lesion segmentation</a:t>
            </a:r>
          </a:p>
          <a:p>
            <a:r>
              <a:rPr lang="en-IN" sz="1600" b="1" dirty="0"/>
              <a:t>OpenCV + scikit-image + </a:t>
            </a:r>
            <a:r>
              <a:rPr lang="en-IN" sz="1600" b="1" dirty="0" err="1"/>
              <a:t>Albumentations</a:t>
            </a:r>
            <a:br>
              <a:rPr lang="en-IN" sz="1600" dirty="0"/>
            </a:br>
            <a:r>
              <a:rPr lang="en-IN" sz="1600" dirty="0"/>
              <a:t>Preprocessing and ABCD feature extraction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2AB349-6905-59E5-6352-900AEBADE44A}"/>
              </a:ext>
            </a:extLst>
          </p:cNvPr>
          <p:cNvSpPr txBox="1"/>
          <p:nvPr/>
        </p:nvSpPr>
        <p:spPr>
          <a:xfrm>
            <a:off x="5580601" y="2430286"/>
            <a:ext cx="35026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Agentic AI &amp; Medical RAG</a:t>
            </a:r>
          </a:p>
          <a:p>
            <a:r>
              <a:rPr lang="en-IN" sz="1600" b="1" dirty="0"/>
              <a:t>Custom Python Agents + Gemini API</a:t>
            </a:r>
            <a:br>
              <a:rPr lang="en-IN" sz="1600" dirty="0"/>
            </a:br>
            <a:r>
              <a:rPr lang="en-IN" sz="1600" dirty="0"/>
              <a:t>Orchestration, explanation and report generation</a:t>
            </a:r>
          </a:p>
          <a:p>
            <a:r>
              <a:rPr lang="en-IN" sz="1600" b="1" dirty="0"/>
              <a:t>BGE-small-en-v1.5 + </a:t>
            </a:r>
            <a:r>
              <a:rPr lang="en-IN" sz="1600" b="1" dirty="0" err="1"/>
              <a:t>Qdrant</a:t>
            </a:r>
            <a:br>
              <a:rPr lang="en-IN" sz="1600" dirty="0"/>
            </a:br>
            <a:r>
              <a:rPr lang="en-IN" sz="1600" dirty="0"/>
              <a:t>Medical knowledge embedding and retrieval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63022C-B751-16FF-DBD6-AE0369C1DBF5}"/>
              </a:ext>
            </a:extLst>
          </p:cNvPr>
          <p:cNvSpPr txBox="1"/>
          <p:nvPr/>
        </p:nvSpPr>
        <p:spPr>
          <a:xfrm>
            <a:off x="882943" y="4788890"/>
            <a:ext cx="35026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Explainability</a:t>
            </a:r>
          </a:p>
          <a:p>
            <a:r>
              <a:rPr lang="en-IN" sz="1600" b="1" dirty="0"/>
              <a:t>Grad-CAM + AIL/AOL + Mask-CAM </a:t>
            </a:r>
            <a:r>
              <a:rPr lang="en-IN" sz="1600" b="1" dirty="0" err="1"/>
              <a:t>IoU</a:t>
            </a:r>
            <a:r>
              <a:rPr lang="en-IN" sz="1600" b="1" dirty="0"/>
              <a:t> + Centroid Distance</a:t>
            </a:r>
            <a:br>
              <a:rPr lang="en-IN" sz="1600" dirty="0"/>
            </a:br>
            <a:r>
              <a:rPr lang="en-IN" sz="1600" dirty="0"/>
              <a:t>Visual attribution and explanation reliability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D6C373-E73A-091F-C519-546E79B9857E}"/>
              </a:ext>
            </a:extLst>
          </p:cNvPr>
          <p:cNvSpPr txBox="1"/>
          <p:nvPr/>
        </p:nvSpPr>
        <p:spPr>
          <a:xfrm>
            <a:off x="5580602" y="4788890"/>
            <a:ext cx="3502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MongoDB + Motor</a:t>
            </a:r>
            <a:br>
              <a:rPr lang="en-IN" sz="1600" dirty="0"/>
            </a:br>
            <a:r>
              <a:rPr lang="en-IN" sz="1600" dirty="0"/>
              <a:t>Users, diagnostic analyses, ABCD measurements, evidence and report metadata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E0244EF-9F35-A242-3DCC-D54017AB9B58}"/>
              </a:ext>
            </a:extLst>
          </p:cNvPr>
          <p:cNvSpPr/>
          <p:nvPr/>
        </p:nvSpPr>
        <p:spPr>
          <a:xfrm>
            <a:off x="9825926" y="1193369"/>
            <a:ext cx="1744770" cy="338547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B9BE5B-CA21-23A0-D071-F3409FD71767}"/>
              </a:ext>
            </a:extLst>
          </p:cNvPr>
          <p:cNvSpPr txBox="1"/>
          <p:nvPr/>
        </p:nvSpPr>
        <p:spPr>
          <a:xfrm>
            <a:off x="9990837" y="1356102"/>
            <a:ext cx="1384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Supporting Tools:</a:t>
            </a:r>
            <a:r>
              <a:rPr lang="en-IN" sz="1600" dirty="0"/>
              <a:t> NumPy  Pandas  scikit-learn  Matplotlib  </a:t>
            </a:r>
            <a:r>
              <a:rPr lang="en-IN" sz="1600" dirty="0" err="1"/>
              <a:t>pytest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Implementation</a:t>
            </a:r>
            <a:r>
              <a:rPr lang="en-IN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: Modules </a:t>
            </a:r>
            <a:endParaRPr lang="en-US" sz="3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FC959B-ACDB-5B68-12C1-8EF65227F622}"/>
              </a:ext>
            </a:extLst>
          </p:cNvPr>
          <p:cNvSpPr/>
          <p:nvPr/>
        </p:nvSpPr>
        <p:spPr>
          <a:xfrm>
            <a:off x="352348" y="845950"/>
            <a:ext cx="6036175" cy="57508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D8CE8-7C9E-0EFB-82A2-F5DE299E4607}"/>
              </a:ext>
            </a:extLst>
          </p:cNvPr>
          <p:cNvSpPr txBox="1"/>
          <p:nvPr/>
        </p:nvSpPr>
        <p:spPr>
          <a:xfrm>
            <a:off x="584811" y="915858"/>
            <a:ext cx="52877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  </a:t>
            </a:r>
            <a:r>
              <a:rPr lang="en-IN" sz="2400" b="1" dirty="0"/>
              <a:t>Implemented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&amp; Preprocessing</a:t>
            </a:r>
            <a:br>
              <a:rPr lang="en-IN" dirty="0"/>
            </a:br>
            <a:r>
              <a:rPr lang="en-IN" sz="1600" dirty="0"/>
              <a:t>ISIC 2018 + ISIC 2020</a:t>
            </a:r>
            <a:br>
              <a:rPr lang="en-IN" sz="1600" dirty="0"/>
            </a:br>
            <a:r>
              <a:rPr lang="en-IN" sz="1600" dirty="0"/>
              <a:t>Cleaning • Standardization • Hair removal • Illumination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Melanoma Classification: </a:t>
            </a:r>
            <a:r>
              <a:rPr lang="en-IN" sz="1600" b="1" dirty="0"/>
              <a:t>Swin Transformer V2-Base</a:t>
            </a:r>
            <a:br>
              <a:rPr lang="en-IN" dirty="0"/>
            </a:br>
            <a:r>
              <a:rPr lang="en-IN" sz="1600" dirty="0"/>
              <a:t>Binary: Melanoma / Non-melanoma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Lesion Segmentation: </a:t>
            </a:r>
            <a:r>
              <a:rPr lang="en-IN" sz="1600" b="1" dirty="0" err="1"/>
              <a:t>SegFormer</a:t>
            </a:r>
            <a:r>
              <a:rPr lang="en-IN" sz="1600" b="1" dirty="0"/>
              <a:t> (MiT-B2)</a:t>
            </a:r>
            <a:br>
              <a:rPr lang="en-IN" dirty="0"/>
            </a:br>
            <a:r>
              <a:rPr lang="en-IN" sz="1600" dirty="0"/>
              <a:t>Pretrained model → Lesion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ABCD Feature Extraction</a:t>
            </a:r>
            <a:br>
              <a:rPr lang="en-IN" dirty="0"/>
            </a:br>
            <a:r>
              <a:rPr lang="en-IN" sz="1600" b="1" dirty="0"/>
              <a:t>A</a:t>
            </a:r>
            <a:r>
              <a:rPr lang="en-IN" sz="1600" dirty="0"/>
              <a:t> Asymmetry • </a:t>
            </a:r>
            <a:r>
              <a:rPr lang="en-IN" sz="1600" b="1" dirty="0"/>
              <a:t>B</a:t>
            </a:r>
            <a:r>
              <a:rPr lang="en-IN" sz="1600" dirty="0"/>
              <a:t> Border</a:t>
            </a:r>
            <a:br>
              <a:rPr lang="en-IN" sz="1600" dirty="0"/>
            </a:br>
            <a:r>
              <a:rPr lang="en-IN" sz="1600" b="1" dirty="0"/>
              <a:t>C</a:t>
            </a:r>
            <a:r>
              <a:rPr lang="en-IN" sz="1600" dirty="0"/>
              <a:t> </a:t>
            </a:r>
            <a:r>
              <a:rPr lang="en-IN" sz="1600" dirty="0" err="1"/>
              <a:t>Color</a:t>
            </a:r>
            <a:r>
              <a:rPr lang="en-IN" sz="1600" dirty="0"/>
              <a:t> • </a:t>
            </a:r>
            <a:r>
              <a:rPr lang="en-IN" sz="1600" b="1" dirty="0"/>
              <a:t>D</a:t>
            </a:r>
            <a:r>
              <a:rPr lang="en-IN" sz="1600" dirty="0"/>
              <a:t> Diameter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Medical RAG &amp; Agents</a:t>
            </a:r>
            <a:br>
              <a:rPr lang="en-IN" dirty="0"/>
            </a:br>
            <a:r>
              <a:rPr lang="en-IN" sz="1600" dirty="0"/>
              <a:t>BGE Embeddings → </a:t>
            </a:r>
            <a:r>
              <a:rPr lang="en-IN" sz="1600" b="1" dirty="0" err="1"/>
              <a:t>Qdrant</a:t>
            </a:r>
            <a:br>
              <a:rPr lang="en-IN" sz="1600" dirty="0"/>
            </a:br>
            <a:r>
              <a:rPr lang="en-IN" sz="1600" dirty="0"/>
              <a:t>Custom Python AI Agents → Retrieval &amp;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Application &amp; Reporting</a:t>
            </a:r>
            <a:br>
              <a:rPr lang="en-IN" dirty="0"/>
            </a:br>
            <a:r>
              <a:rPr lang="en-IN" sz="1600" b="1" dirty="0"/>
              <a:t>React + </a:t>
            </a:r>
            <a:r>
              <a:rPr lang="en-IN" sz="1600" b="1" dirty="0" err="1"/>
              <a:t>FastAPI</a:t>
            </a:r>
            <a:r>
              <a:rPr lang="en-IN" sz="1600" b="1" dirty="0"/>
              <a:t> + MongoDB + Gemini API</a:t>
            </a:r>
            <a:br>
              <a:rPr lang="en-IN" dirty="0"/>
            </a:br>
            <a:r>
              <a:rPr lang="en-IN" sz="1600" dirty="0"/>
              <a:t>Dashboard + Explainable Clinical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E72B86-04F6-1AE7-7670-8D4E45E037B1}"/>
              </a:ext>
            </a:extLst>
          </p:cNvPr>
          <p:cNvSpPr/>
          <p:nvPr/>
        </p:nvSpPr>
        <p:spPr>
          <a:xfrm>
            <a:off x="6615289" y="849062"/>
            <a:ext cx="5437365" cy="574776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8CFE4-51EC-81DF-297B-9F16279E0D22}"/>
              </a:ext>
            </a:extLst>
          </p:cNvPr>
          <p:cNvSpPr txBox="1"/>
          <p:nvPr/>
        </p:nvSpPr>
        <p:spPr>
          <a:xfrm>
            <a:off x="6782463" y="1003670"/>
            <a:ext cx="4707172" cy="4217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       </a:t>
            </a:r>
            <a:r>
              <a:rPr lang="en-US" sz="2400" b="1" dirty="0"/>
              <a:t>Current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~65% Project Done</a:t>
            </a:r>
          </a:p>
          <a:p>
            <a:endParaRPr lang="en-IN" b="1" dirty="0"/>
          </a:p>
          <a:p>
            <a:r>
              <a:rPr lang="en-IN" sz="2000" b="1" dirty="0"/>
              <a:t>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   B   C  D </a:t>
            </a:r>
            <a:endParaRPr lang="en-IN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RAG</a:t>
            </a:r>
          </a:p>
          <a:p>
            <a:endParaRPr lang="en-IN" b="1" dirty="0"/>
          </a:p>
          <a:p>
            <a:r>
              <a:rPr lang="en-IN" sz="2000" b="1" dirty="0"/>
              <a:t>In Progress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Agentic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Evolution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E442D5-D218-2079-781B-E738E367BBA9}"/>
              </a:ext>
            </a:extLst>
          </p:cNvPr>
          <p:cNvSpPr/>
          <p:nvPr/>
        </p:nvSpPr>
        <p:spPr>
          <a:xfrm>
            <a:off x="7060757" y="4795854"/>
            <a:ext cx="4546431" cy="108104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CD1B32-7CB1-57D6-A57D-98C9DB5EA85A}"/>
              </a:ext>
            </a:extLst>
          </p:cNvPr>
          <p:cNvSpPr txBox="1"/>
          <p:nvPr/>
        </p:nvSpPr>
        <p:spPr>
          <a:xfrm>
            <a:off x="7241533" y="4874713"/>
            <a:ext cx="4423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</a:t>
            </a:r>
            <a:r>
              <a:rPr lang="en-IN" dirty="0"/>
              <a:t> </a:t>
            </a:r>
            <a:r>
              <a:rPr lang="en-IN" dirty="0" err="1"/>
              <a:t>Dermoscopic</a:t>
            </a:r>
            <a:r>
              <a:rPr lang="en-IN" dirty="0"/>
              <a:t> Image → </a:t>
            </a:r>
            <a:r>
              <a:rPr lang="en-IN" b="1" dirty="0"/>
              <a:t>Output:</a:t>
            </a:r>
            <a:r>
              <a:rPr lang="en-IN" dirty="0"/>
              <a:t> Prediction + Mask + ABCD + Evidence-Grounded Report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A60F-8639-EADD-081C-DABFA82D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09FDBD-1237-AFE7-87B2-8B90E0FEF47F}"/>
              </a:ext>
            </a:extLst>
          </p:cNvPr>
          <p:cNvSpPr/>
          <p:nvPr/>
        </p:nvSpPr>
        <p:spPr>
          <a:xfrm>
            <a:off x="427887" y="949317"/>
            <a:ext cx="5743650" cy="57508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40B88-C40F-56D0-8B0A-8C8D23E4E366}"/>
              </a:ext>
            </a:extLst>
          </p:cNvPr>
          <p:cNvSpPr txBox="1"/>
          <p:nvPr/>
        </p:nvSpPr>
        <p:spPr>
          <a:xfrm>
            <a:off x="922272" y="1019225"/>
            <a:ext cx="47548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DATASET</a:t>
            </a:r>
          </a:p>
          <a:p>
            <a:pPr lvl="2"/>
            <a:r>
              <a:rPr lang="en-IN" sz="2000" b="1" dirty="0"/>
              <a:t>Custom Curated Dataset</a:t>
            </a:r>
          </a:p>
          <a:p>
            <a:pPr lvl="2"/>
            <a:r>
              <a:rPr lang="en-IN" sz="2000" b="1" dirty="0"/>
              <a:t>  ISIC 2018 + ISIC 2020</a:t>
            </a:r>
          </a:p>
          <a:p>
            <a:r>
              <a:rPr lang="en-IN" b="1" dirty="0"/>
              <a:t>Dataset Preparation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Metadata standardized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Images cleaned &amp; validated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Unified schema created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Preprocessing completed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Dataset integrated into pipeline</a:t>
            </a:r>
          </a:p>
          <a:p>
            <a:pPr lvl="2"/>
            <a:endParaRPr lang="en-IN" sz="2000" dirty="0"/>
          </a:p>
          <a:p>
            <a:pPr algn="ctr"/>
            <a:endParaRPr lang="en-IN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C90DDC-4331-2004-3E2C-96A45B6552DD}"/>
              </a:ext>
            </a:extLst>
          </p:cNvPr>
          <p:cNvSpPr/>
          <p:nvPr/>
        </p:nvSpPr>
        <p:spPr>
          <a:xfrm>
            <a:off x="978010" y="3958491"/>
            <a:ext cx="4325509" cy="221967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E2DFE-55AD-5912-0EB9-9D1EF4F2F006}"/>
              </a:ext>
            </a:extLst>
          </p:cNvPr>
          <p:cNvSpPr txBox="1"/>
          <p:nvPr/>
        </p:nvSpPr>
        <p:spPr>
          <a:xfrm>
            <a:off x="1280159" y="4166484"/>
            <a:ext cx="37689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	</a:t>
            </a:r>
            <a:r>
              <a:rPr lang="en-IN" sz="2400" b="1" dirty="0"/>
              <a:t>DATA SPLIT</a:t>
            </a:r>
          </a:p>
          <a:p>
            <a:r>
              <a:rPr lang="en-IN" b="1" dirty="0"/>
              <a:t>Training:</a:t>
            </a:r>
            <a:r>
              <a:rPr lang="en-IN" dirty="0"/>
              <a:t> 30,412 images (70.5%)</a:t>
            </a:r>
            <a:br>
              <a:rPr lang="en-IN" dirty="0"/>
            </a:br>
            <a:r>
              <a:rPr lang="en-IN" b="1" dirty="0"/>
              <a:t>Validation:</a:t>
            </a:r>
            <a:r>
              <a:rPr lang="en-IN" dirty="0"/>
              <a:t> 5,975 images (13.9%)</a:t>
            </a:r>
            <a:br>
              <a:rPr lang="en-IN" dirty="0"/>
            </a:br>
            <a:r>
              <a:rPr lang="en-IN" b="1" dirty="0"/>
              <a:t>Testing:</a:t>
            </a:r>
            <a:r>
              <a:rPr lang="en-IN" dirty="0"/>
              <a:t> 6,754 images (15.7%)</a:t>
            </a:r>
          </a:p>
          <a:p>
            <a:endParaRPr lang="en-IN" dirty="0"/>
          </a:p>
          <a:p>
            <a:r>
              <a:rPr lang="en-IN" b="1" dirty="0"/>
              <a:t>Total:</a:t>
            </a:r>
            <a:r>
              <a:rPr lang="en-IN" dirty="0"/>
              <a:t> 43,141 unique images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5A125E-6FC1-E8D2-9085-AB27FAB0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703" y="1059519"/>
            <a:ext cx="5347410" cy="14301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41A02E-6529-CA93-371A-0FE2E2508BEB}"/>
              </a:ext>
            </a:extLst>
          </p:cNvPr>
          <p:cNvSpPr txBox="1"/>
          <p:nvPr/>
        </p:nvSpPr>
        <p:spPr>
          <a:xfrm>
            <a:off x="978010" y="220199"/>
            <a:ext cx="60946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Dataset</a:t>
            </a:r>
            <a:endParaRPr lang="en-US" sz="3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E56B21-6C43-9510-9DA8-43A9F6A4D628}"/>
              </a:ext>
            </a:extLst>
          </p:cNvPr>
          <p:cNvSpPr/>
          <p:nvPr/>
        </p:nvSpPr>
        <p:spPr>
          <a:xfrm>
            <a:off x="6416703" y="2775005"/>
            <a:ext cx="5510254" cy="369735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81B15-C195-AC70-FA7A-6FB55CB7737F}"/>
              </a:ext>
            </a:extLst>
          </p:cNvPr>
          <p:cNvSpPr txBox="1"/>
          <p:nvPr/>
        </p:nvSpPr>
        <p:spPr>
          <a:xfrm>
            <a:off x="6718852" y="2901424"/>
            <a:ext cx="493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Purpose:</a:t>
            </a:r>
            <a:r>
              <a:rPr lang="en-IN" dirty="0"/>
              <a:t>Melanoma / non-melanoma classification and clinical feature analysis</a:t>
            </a:r>
            <a:endParaRPr lang="en-IN" b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16F7A4-E136-EE76-0D10-8BC93AACF370}"/>
              </a:ext>
            </a:extLst>
          </p:cNvPr>
          <p:cNvSpPr/>
          <p:nvPr/>
        </p:nvSpPr>
        <p:spPr>
          <a:xfrm>
            <a:off x="6826192" y="3547756"/>
            <a:ext cx="4695248" cy="275762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EA67C-A8D0-EC98-BD62-02BE01E7F07E}"/>
              </a:ext>
            </a:extLst>
          </p:cNvPr>
          <p:cNvSpPr txBox="1"/>
          <p:nvPr/>
        </p:nvSpPr>
        <p:spPr>
          <a:xfrm>
            <a:off x="6937510" y="3674174"/>
            <a:ext cx="46515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ISIC 2018:</a:t>
            </a:r>
            <a:r>
              <a:rPr lang="en-IN" sz="1600" dirty="0"/>
              <a:t> 10,015 images</a:t>
            </a:r>
            <a:br>
              <a:rPr lang="en-IN" sz="1600" dirty="0"/>
            </a:br>
            <a:r>
              <a:rPr lang="en-IN" sz="1600" b="1" dirty="0"/>
              <a:t>ISIC 2020:</a:t>
            </a:r>
            <a:r>
              <a:rPr lang="en-IN" sz="1600" dirty="0"/>
              <a:t> 33,126 images</a:t>
            </a:r>
            <a:br>
              <a:rPr lang="en-IN" sz="1600" dirty="0"/>
            </a:br>
            <a:r>
              <a:rPr lang="en-IN" sz="1600" b="1" dirty="0"/>
              <a:t>Total:</a:t>
            </a:r>
            <a:r>
              <a:rPr lang="en-IN" sz="1600" dirty="0"/>
              <a:t> 43,141 unique images</a:t>
            </a:r>
          </a:p>
          <a:p>
            <a:endParaRPr lang="en-IN" sz="1600" dirty="0"/>
          </a:p>
          <a:p>
            <a:r>
              <a:rPr lang="en-IN" sz="1600" b="1" dirty="0"/>
              <a:t>Melanoma: </a:t>
            </a:r>
            <a:r>
              <a:rPr lang="en-IN" sz="1600" dirty="0"/>
              <a:t>1,697 images (3.93%) </a:t>
            </a:r>
          </a:p>
          <a:p>
            <a:r>
              <a:rPr lang="en-IN" sz="1600" b="1" dirty="0"/>
              <a:t>Non-melanoma: </a:t>
            </a:r>
            <a:r>
              <a:rPr lang="en-IN" sz="1600" dirty="0"/>
              <a:t>41,444 images (96.07%)</a:t>
            </a:r>
          </a:p>
          <a:p>
            <a:r>
              <a:rPr lang="en-IN" sz="1600" b="1" dirty="0"/>
              <a:t>Total: </a:t>
            </a:r>
            <a:r>
              <a:rPr lang="en-IN" sz="1600" dirty="0"/>
              <a:t>43,141 images (100%)</a:t>
            </a:r>
          </a:p>
          <a:p>
            <a:endParaRPr lang="en-IN" sz="1600" dirty="0"/>
          </a:p>
          <a:p>
            <a:r>
              <a:rPr lang="en-IN" sz="1600" b="1" dirty="0"/>
              <a:t>Class imbalance:</a:t>
            </a:r>
            <a:r>
              <a:rPr lang="en-IN" sz="1600" dirty="0"/>
              <a:t> 3.93% melanoma vs 96.07% non-melanoma → weighted classification loss</a:t>
            </a: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Results &amp; Evaluation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20992-0018-FC42-DA87-CCAFE9E3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B7EF75-067B-0C77-6C8C-629BB12B9E15}"/>
              </a:ext>
            </a:extLst>
          </p:cNvPr>
          <p:cNvSpPr txBox="1"/>
          <p:nvPr/>
        </p:nvSpPr>
        <p:spPr>
          <a:xfrm>
            <a:off x="1063570" y="339169"/>
            <a:ext cx="6584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Working Demo &amp; System Output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D02EE-59B0-34E4-0A07-0EC112BC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7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18CB17-BB28-4485-2E25-895180B43510}"/>
              </a:ext>
            </a:extLst>
          </p:cNvPr>
          <p:cNvSpPr txBox="1"/>
          <p:nvPr/>
        </p:nvSpPr>
        <p:spPr>
          <a:xfrm>
            <a:off x="1017077" y="364166"/>
            <a:ext cx="8173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Project Status, Challenges &amp; Next Steps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1EAA8-AF1A-06B8-D633-9A43E5F09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0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E41B56-835E-8C02-8476-61EB48939CA3}"/>
              </a:ext>
            </a:extLst>
          </p:cNvPr>
          <p:cNvSpPr txBox="1"/>
          <p:nvPr/>
        </p:nvSpPr>
        <p:spPr>
          <a:xfrm>
            <a:off x="1063571" y="261677"/>
            <a:ext cx="6094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Paper </a:t>
            </a: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Publication Progress</a:t>
            </a:r>
            <a:endParaRPr lang="en-US" sz="32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B001C6-CB41-BFA4-6674-0282293C2826}"/>
              </a:ext>
            </a:extLst>
          </p:cNvPr>
          <p:cNvSpPr/>
          <p:nvPr/>
        </p:nvSpPr>
        <p:spPr>
          <a:xfrm>
            <a:off x="596684" y="846452"/>
            <a:ext cx="3324388" cy="123807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DB6DF-4528-7725-69CA-A25A878DAC83}"/>
              </a:ext>
            </a:extLst>
          </p:cNvPr>
          <p:cNvSpPr txBox="1"/>
          <p:nvPr/>
        </p:nvSpPr>
        <p:spPr>
          <a:xfrm>
            <a:off x="689675" y="1003822"/>
            <a:ext cx="4192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</a:t>
            </a:r>
            <a:r>
              <a:rPr lang="en-US" dirty="0"/>
              <a:t> : IEEE Conference</a:t>
            </a:r>
          </a:p>
          <a:p>
            <a:endParaRPr lang="en-US" dirty="0"/>
          </a:p>
          <a:p>
            <a:r>
              <a:rPr lang="en-US" b="1" dirty="0"/>
              <a:t>Draft </a:t>
            </a:r>
            <a:r>
              <a:rPr lang="en-US" dirty="0"/>
              <a:t>– Under Development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E26907-F711-3A16-8E9C-43DD5CD4A549}"/>
              </a:ext>
            </a:extLst>
          </p:cNvPr>
          <p:cNvSpPr/>
          <p:nvPr/>
        </p:nvSpPr>
        <p:spPr>
          <a:xfrm>
            <a:off x="596684" y="2241892"/>
            <a:ext cx="3324388" cy="425189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822C9-E044-8FCA-CB69-9246A4B08629}"/>
              </a:ext>
            </a:extLst>
          </p:cNvPr>
          <p:cNvSpPr txBox="1"/>
          <p:nvPr/>
        </p:nvSpPr>
        <p:spPr>
          <a:xfrm>
            <a:off x="763291" y="2400937"/>
            <a:ext cx="31577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Literature Survey</a:t>
            </a:r>
            <a:endParaRPr lang="en-US" dirty="0"/>
          </a:p>
          <a:p>
            <a:r>
              <a:rPr lang="en-US" b="1" dirty="0"/>
              <a:t>42</a:t>
            </a:r>
            <a:r>
              <a:rPr lang="en-US" dirty="0"/>
              <a:t> papers reviewed</a:t>
            </a:r>
          </a:p>
          <a:p>
            <a:r>
              <a:rPr lang="en-US" b="1" dirty="0"/>
              <a:t>28</a:t>
            </a:r>
            <a:r>
              <a:rPr lang="en-US" dirty="0"/>
              <a:t> selected papers</a:t>
            </a:r>
          </a:p>
          <a:p>
            <a:r>
              <a:rPr lang="en-US" b="1" dirty="0"/>
              <a:t>18 </a:t>
            </a:r>
            <a:r>
              <a:rPr lang="en-US" dirty="0"/>
              <a:t>selected for writing paper</a:t>
            </a:r>
          </a:p>
          <a:p>
            <a:r>
              <a:rPr lang="en-US" b="1" dirty="0"/>
              <a:t> 8 </a:t>
            </a:r>
            <a:r>
              <a:rPr lang="en-US" dirty="0"/>
              <a:t>Research Areas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ABCDE &amp; clinical melanoma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Melanoma AI &amp; classification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Lesion segmentation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Quantitative ABCDE extraction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Explainable AI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Longitudinal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Medical RAG &amp; LLMs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Medical AI agents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4392EE-E6E2-A451-5352-AE739D82063E}"/>
              </a:ext>
            </a:extLst>
          </p:cNvPr>
          <p:cNvSpPr/>
          <p:nvPr/>
        </p:nvSpPr>
        <p:spPr>
          <a:xfrm>
            <a:off x="4110925" y="846452"/>
            <a:ext cx="6885122" cy="12380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4AD968-A633-9184-58ED-9A584741BEEE}"/>
              </a:ext>
            </a:extLst>
          </p:cNvPr>
          <p:cNvSpPr txBox="1"/>
          <p:nvPr/>
        </p:nvSpPr>
        <p:spPr>
          <a:xfrm>
            <a:off x="4254285" y="1003822"/>
            <a:ext cx="6579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Paper Title</a:t>
            </a:r>
          </a:p>
          <a:p>
            <a:r>
              <a:rPr lang="en-IN" b="1" dirty="0"/>
              <a:t>An Agentic Retrieval-Augmented Framework for Explainable Melanoma Diagnosis using Clinical Features</a:t>
            </a:r>
            <a:endParaRPr lang="en-IN" dirty="0"/>
          </a:p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3AC876-A17D-5323-C45F-E4363B548928}"/>
              </a:ext>
            </a:extLst>
          </p:cNvPr>
          <p:cNvSpPr/>
          <p:nvPr/>
        </p:nvSpPr>
        <p:spPr>
          <a:xfrm>
            <a:off x="4110925" y="5235143"/>
            <a:ext cx="6885122" cy="1238070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8516B-C362-8F52-0F6F-2D8E3764CF25}"/>
              </a:ext>
            </a:extLst>
          </p:cNvPr>
          <p:cNvSpPr txBox="1"/>
          <p:nvPr/>
        </p:nvSpPr>
        <p:spPr>
          <a:xfrm>
            <a:off x="4254285" y="5424407"/>
            <a:ext cx="6579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Current Stage → Methodology Development → Experiments → Results &amp; Analysis → Final Manuscript → IEEE Submission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14F189-F4F3-221D-36CA-5EB0FABD9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08247"/>
              </p:ext>
            </p:extLst>
          </p:nvPr>
        </p:nvGraphicFramePr>
        <p:xfrm>
          <a:off x="4254284" y="2297733"/>
          <a:ext cx="6679770" cy="2780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9885">
                  <a:extLst>
                    <a:ext uri="{9D8B030D-6E8A-4147-A177-3AD203B41FA5}">
                      <a16:colId xmlns:a16="http://schemas.microsoft.com/office/drawing/2014/main" val="2184976150"/>
                    </a:ext>
                  </a:extLst>
                </a:gridCol>
                <a:gridCol w="3339885">
                  <a:extLst>
                    <a:ext uri="{9D8B030D-6E8A-4147-A177-3AD203B41FA5}">
                      <a16:colId xmlns:a16="http://schemas.microsoft.com/office/drawing/2014/main" val="3498292009"/>
                    </a:ext>
                  </a:extLst>
                </a:gridCol>
              </a:tblGrid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Section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Status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351258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Abstract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⬜ Not Started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21786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Introduction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Drafted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148236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Related Work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Drafted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151425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Methodology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🟡 In Progress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138489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903191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Results &amp; Analysis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⬜ Not Started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021905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Conclusion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⬜ Not Started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186197"/>
                  </a:ext>
                </a:extLst>
              </a:tr>
              <a:tr h="308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References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✅ Drafted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3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03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721</Words>
  <Application>Microsoft Office PowerPoint</Application>
  <PresentationFormat>Widescreen</PresentationFormat>
  <Paragraphs>130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Chunduru Monish Sai Abhiram</cp:lastModifiedBy>
  <cp:revision>37</cp:revision>
  <dcterms:created xsi:type="dcterms:W3CDTF">2024-06-11T09:24:19Z</dcterms:created>
  <dcterms:modified xsi:type="dcterms:W3CDTF">2026-09-17T14:42:20Z</dcterms:modified>
</cp:coreProperties>
</file>